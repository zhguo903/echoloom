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71679640514c8e" /><Relationship Type="http://schemas.openxmlformats.org/officeDocument/2006/relationships/extended-properties" Target="/docProps/app.xml" Id="R7c8c5eceaef546bb" /><Relationship Type="http://schemas.openxmlformats.org/officeDocument/2006/relationships/officeDocument" Target="/ppt/presentation.xml" Id="R385e733566c644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d1afd93a89451d"/>
  </p:sldMasterIdLst>
  <p:notesMasterIdLst>
    <p:notesMasterId xmlns:r="http://schemas.openxmlformats.org/officeDocument/2006/relationships" r:id="R49b5f35ff3234a7c"/>
  </p:notesMasterIdLst>
  <p:sldIdLst>
    <p:sldId xmlns:r="http://schemas.openxmlformats.org/officeDocument/2006/relationships" id="256" r:id="R1bc965eae07049e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5653c92e274649" /><Relationship Type="http://schemas.openxmlformats.org/officeDocument/2006/relationships/slideMaster" Target="/ppt/slideMasters/slideMaster1.xml" Id="Rb8d1afd93a89451d" /><Relationship Type="http://schemas.openxmlformats.org/officeDocument/2006/relationships/notesMaster" Target="/ppt/notesMasters/notesMaster1.xml" Id="R49b5f35ff3234a7c" /><Relationship Type="http://schemas.openxmlformats.org/officeDocument/2006/relationships/presProps" Target="/ppt/presProps.xml" Id="R45d241dfefce4b2e" /><Relationship Type="http://schemas.openxmlformats.org/officeDocument/2006/relationships/tableStyles" Target="/ppt/tableStyles.xml" Id="Rb80112d2f56246db" /><Relationship Type="http://schemas.openxmlformats.org/officeDocument/2006/relationships/slide" Target="/ppt/slides/slide1.xml" Id="R1bc965eae07049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583a065f040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d8577b87ff462a" /><Relationship Type="http://schemas.openxmlformats.org/officeDocument/2006/relationships/notesMaster" Target="/ppt/notesMasters/notesMaster1.xml" Id="R8520b325657b43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/Users/zihan/UofT/CSC454/EchoLoom_Interactive_Demo/docs/PRODUCT_BRIEF.md</a:t>
            </a:r>
          </a:p>
          <a:p xmlns:a="http://schemas.openxmlformats.org/drawingml/2006/main">
            <a:r>
              <a:t>- /Users/zihan/UofT/CSC454/EchoLoom_Interactive_Demo/docs/ARCHITECTURE.md</a:t>
            </a:r>
          </a:p>
          <a:p xmlns:a="http://schemas.openxmlformats.org/drawingml/2006/main">
            <a:r>
              <a:t>- /Users/zihan/UofT/CSC454/EchoLoom_Interactive_Demo/docs/OPTIONAL_REAL_AI_UPGRADE.md</a:t>
            </a:r>
          </a:p>
          <a:p xmlns:a="http://schemas.openxmlformats.org/drawingml/2006/main">
            <a:r>
              <a:t>- https://reactnative.dev/docs/typescript</a:t>
            </a:r>
          </a:p>
          <a:p xmlns:a="http://schemas.openxmlformats.org/drawingml/2006/main">
            <a:r>
              <a:t>- https://docs.expo.dev/build/setup/</a:t>
            </a:r>
          </a:p>
          <a:p xmlns:a="http://schemas.openxmlformats.org/drawingml/2006/main">
            <a:r>
              <a:t>- https://www.postgresql.org/docs/current/datatype.html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https://docs.github.com/en/actions/get-started/understand-github-actions</a:t>
            </a:r>
          </a:p>
          <a:p xmlns:a="http://schemas.openxmlformats.org/drawingml/2006/main">
            <a:r>
              <a:t>- https://opentelemetry.io/docs/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3d257f9994d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c1b50433af45c9" /><Relationship Type="http://schemas.openxmlformats.org/officeDocument/2006/relationships/slideLayout" Target="/ppt/slideLayouts/slideLayout1.xml" Id="Rd5a41fa57e4b45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a41fa57e4b45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36079352e43fe" /><Relationship Type="http://schemas.openxmlformats.org/officeDocument/2006/relationships/notesSlide" Target="/ppt/notesSlides/notesSlide1.xml" Id="Rc53902dec15042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44095-AF4B-40E7-BB49-23709E73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"/>
            <a:ext cx="1524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510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Technical Feasibility</a:t>
            </a:r>
          </a:p>
        </p:txBody>
      </p:sp>
      <p:sp>
        <p:nvSpPr>
          <p:cNvPr id="2" name="card-1">
            <a:extLst xmlns:a="http://schemas.openxmlformats.org/drawingml/2006/main">
              <a:ext uri="{FF2B5EF4-FFF2-40B4-BE49-F238E27FC236}">
                <a16:creationId xmlns:a16="http://schemas.microsoft.com/office/drawing/2014/main" id="{64B1A22F-CD14-4484-BF10-DBC29FBB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3905250" cy="7372350"/>
          </a:xfrm>
          <a:prstGeom xmlns:a="http://schemas.openxmlformats.org/drawingml/2006/main" prst="roundRect">
            <a:avLst>
              <a:gd name="adj" fmla="val 9268"/>
            </a:avLst>
          </a:prstGeom>
          <a:solidFill xmlns:a="http://schemas.openxmlformats.org/drawingml/2006/main">
            <a:srgbClr val="FFF3F6"/>
          </a:solidFill>
          <a:ln xmlns:a="http://schemas.openxmlformats.org/drawingml/2006/main" w="13335">
            <a:solidFill>
              <a:srgbClr val="F2B7C5"/>
            </a:solidFill>
            <a:prstDash val="solid"/>
          </a:ln>
        </p:spPr>
      </p:sp>
      <p:sp>
        <p:nvSpPr>
          <p:cNvPr id="3" name="card-1-icon">
            <a:extLst xmlns:a="http://schemas.openxmlformats.org/drawingml/2006/main">
              <a:ext uri="{FF2B5EF4-FFF2-40B4-BE49-F238E27FC236}">
                <a16:creationId xmlns:a16="http://schemas.microsoft.com/office/drawing/2014/main" id="{F77D9B34-C4E3-4B71-ABA8-DCF0A842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7650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0">
                <a:solidFill>
                  <a:srgbClr val="29272A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600" b="0">
                <a:solidFill>
                  <a:srgbClr val="29272A"/>
                </a:solidFill>
                <a:latin typeface="Apple Color Emoji"/>
                <a:ea typeface="Apple Color Emoji"/>
                <a:cs typeface="Apple Color Emoji"/>
              </a:rPr>
              <a:t>📱</a:t>
            </a:r>
          </a:p>
        </p:txBody>
      </p:sp>
      <p:sp>
        <p:nvSpPr>
          <p:cNvPr id="4" name="card-1-heading">
            <a:extLst xmlns:a="http://schemas.openxmlformats.org/drawingml/2006/main">
              <a:ext uri="{FF2B5EF4-FFF2-40B4-BE49-F238E27FC236}">
                <a16:creationId xmlns:a16="http://schemas.microsoft.com/office/drawing/2014/main" id="{D77CD52C-270C-4FB9-BE15-F26CC38E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5285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Client Experience</a:t>
            </a:r>
          </a:p>
        </p:txBody>
      </p:sp>
      <p:sp>
        <p:nvSpPr>
          <p:cNvPr id="5" name="card-1-stack">
            <a:extLst xmlns:a="http://schemas.openxmlformats.org/drawingml/2006/main">
              <a:ext uri="{FF2B5EF4-FFF2-40B4-BE49-F238E27FC236}">
                <a16:creationId xmlns:a16="http://schemas.microsoft.com/office/drawing/2014/main" id="{578F4059-DDB0-436C-8891-BDB1862C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8150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66F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6F88"/>
                </a:solidFill>
                <a:latin typeface="Arial"/>
                <a:ea typeface="Arial"/>
                <a:cs typeface="Arial"/>
              </a:rPr>
              <a:t>TypeScript · React Native · Expo</a:t>
            </a:r>
          </a:p>
        </p:txBody>
      </p:sp>
      <p:sp>
        <p:nvSpPr>
          <p:cNvPr id="6" name="card-1-description">
            <a:extLst xmlns:a="http://schemas.openxmlformats.org/drawingml/2006/main">
              <a:ext uri="{FF2B5EF4-FFF2-40B4-BE49-F238E27FC236}">
                <a16:creationId xmlns:a16="http://schemas.microsoft.com/office/drawing/2014/main" id="{D72118E9-6CC5-405A-8737-76857E58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591300"/>
            <a:ext cx="3390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797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97476"/>
                </a:solidFill>
                <a:latin typeface="Arial"/>
                <a:ea typeface="Arial"/>
                <a:cs typeface="Arial"/>
              </a:rPr>
              <a:t>Cross-platform story UI, offline cache, accessibility, and cinematic scene rendering</a:t>
            </a:r>
          </a:p>
        </p:txBody>
      </p:sp>
      <p:sp>
        <p:nvSpPr>
          <p:cNvPr id="7" name="card-2">
            <a:extLst xmlns:a="http://schemas.openxmlformats.org/drawingml/2006/main">
              <a:ext uri="{FF2B5EF4-FFF2-40B4-BE49-F238E27FC236}">
                <a16:creationId xmlns:a16="http://schemas.microsoft.com/office/drawing/2014/main" id="{DE2E2B3E-A973-47CD-A81D-B9E3C754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81150"/>
            <a:ext cx="3905250" cy="7372350"/>
          </a:xfrm>
          <a:prstGeom xmlns:a="http://schemas.openxmlformats.org/drawingml/2006/main" prst="roundRect">
            <a:avLst>
              <a:gd name="adj" fmla="val 9268"/>
            </a:avLst>
          </a:prstGeom>
          <a:solidFill xmlns:a="http://schemas.openxmlformats.org/drawingml/2006/main">
            <a:srgbClr val="FFF3F6"/>
          </a:solidFill>
          <a:ln xmlns:a="http://schemas.openxmlformats.org/drawingml/2006/main" w="13335">
            <a:solidFill>
              <a:srgbClr val="F2B7C5"/>
            </a:solidFill>
            <a:prstDash val="solid"/>
          </a:ln>
        </p:spPr>
      </p:sp>
      <p:sp>
        <p:nvSpPr>
          <p:cNvPr id="8" name="card-2-icon">
            <a:extLst xmlns:a="http://schemas.openxmlformats.org/drawingml/2006/main">
              <a:ext uri="{FF2B5EF4-FFF2-40B4-BE49-F238E27FC236}">
                <a16:creationId xmlns:a16="http://schemas.microsoft.com/office/drawing/2014/main" id="{92FCDE04-8220-4D72-A4EB-B88ADE7C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7650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0">
                <a:solidFill>
                  <a:srgbClr val="29272A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600" b="0">
                <a:solidFill>
                  <a:srgbClr val="29272A"/>
                </a:solidFill>
                <a:latin typeface="Apple Color Emoji"/>
                <a:ea typeface="Apple Color Emoji"/>
                <a:cs typeface="Apple Color Emoji"/>
              </a:rPr>
              <a:t>☁️</a:t>
            </a:r>
          </a:p>
        </p:txBody>
      </p:sp>
      <p:sp>
        <p:nvSpPr>
          <p:cNvPr id="9" name="card-2-heading">
            <a:extLst xmlns:a="http://schemas.openxmlformats.org/drawingml/2006/main">
              <a:ext uri="{FF2B5EF4-FFF2-40B4-BE49-F238E27FC236}">
                <a16:creationId xmlns:a16="http://schemas.microsoft.com/office/drawing/2014/main" id="{3FF88280-EA3C-427C-950B-4D7F55F7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5285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Backend &amp; Memory</a:t>
            </a:r>
          </a:p>
        </p:txBody>
      </p:sp>
      <p:sp>
        <p:nvSpPr>
          <p:cNvPr id="10" name="card-2-stack">
            <a:extLst xmlns:a="http://schemas.openxmlformats.org/drawingml/2006/main">
              <a:ext uri="{FF2B5EF4-FFF2-40B4-BE49-F238E27FC236}">
                <a16:creationId xmlns:a16="http://schemas.microsoft.com/office/drawing/2014/main" id="{A979551F-EAA9-4ED4-A1D9-A418B8CC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8150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66F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6F88"/>
                </a:solidFill>
                <a:latin typeface="Arial"/>
                <a:ea typeface="Arial"/>
                <a:cs typeface="Arial"/>
              </a:rPr>
              <a:t>Node.js · PostgreSQL · pgvector</a:t>
            </a:r>
          </a:p>
        </p:txBody>
      </p:sp>
      <p:sp>
        <p:nvSpPr>
          <p:cNvPr id="11" name="card-2-description">
            <a:extLst xmlns:a="http://schemas.openxmlformats.org/drawingml/2006/main">
              <a:ext uri="{FF2B5EF4-FFF2-40B4-BE49-F238E27FC236}">
                <a16:creationId xmlns:a16="http://schemas.microsoft.com/office/drawing/2014/main" id="{74E00FC4-71DC-4154-BDE2-6F264479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591300"/>
            <a:ext cx="3390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797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97476"/>
                </a:solidFill>
                <a:latin typeface="Arial"/>
                <a:ea typeface="Arial"/>
                <a:cs typeface="Arial"/>
              </a:rPr>
              <a:t>Accounts, relationship state, branch snapshots, and source-linked long-term memory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CF7E6EA5-8C2D-403C-B353-46D51035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81150"/>
            <a:ext cx="3905250" cy="7372350"/>
          </a:xfrm>
          <a:prstGeom xmlns:a="http://schemas.openxmlformats.org/drawingml/2006/main" prst="roundRect">
            <a:avLst>
              <a:gd name="adj" fmla="val 9268"/>
            </a:avLst>
          </a:prstGeom>
          <a:solidFill xmlns:a="http://schemas.openxmlformats.org/drawingml/2006/main">
            <a:srgbClr val="FFF3F6"/>
          </a:solidFill>
          <a:ln xmlns:a="http://schemas.openxmlformats.org/drawingml/2006/main" w="13335">
            <a:solidFill>
              <a:srgbClr val="F2B7C5"/>
            </a:solidFill>
            <a:prstDash val="solid"/>
          </a:ln>
        </p:spPr>
      </p:sp>
      <p:sp>
        <p:nvSpPr>
          <p:cNvPr id="13" name="card-3-icon">
            <a:extLst xmlns:a="http://schemas.openxmlformats.org/drawingml/2006/main">
              <a:ext uri="{FF2B5EF4-FFF2-40B4-BE49-F238E27FC236}">
                <a16:creationId xmlns:a16="http://schemas.microsoft.com/office/drawing/2014/main" id="{1B8D62E4-8832-4F48-9FBD-BBF7A6EC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7650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0">
                <a:solidFill>
                  <a:srgbClr val="29272A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600" b="0">
                <a:solidFill>
                  <a:srgbClr val="29272A"/>
                </a:solidFill>
                <a:latin typeface="Apple Color Emoji"/>
                <a:ea typeface="Apple Color Emoji"/>
                <a:cs typeface="Apple Color Emoji"/>
              </a:rPr>
              <a:t>✨</a:t>
            </a:r>
          </a:p>
        </p:txBody>
      </p:sp>
      <p:sp>
        <p:nvSpPr>
          <p:cNvPr id="14" name="card-3-heading">
            <a:extLst xmlns:a="http://schemas.openxmlformats.org/drawingml/2006/main">
              <a:ext uri="{FF2B5EF4-FFF2-40B4-BE49-F238E27FC236}">
                <a16:creationId xmlns:a16="http://schemas.microsoft.com/office/drawing/2014/main" id="{C52C2D7D-3E19-47BE-801C-B366856F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75285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AI &amp; Safety</a:t>
            </a:r>
          </a:p>
        </p:txBody>
      </p:sp>
      <p:sp>
        <p:nvSpPr>
          <p:cNvPr id="15" name="card-3-stack">
            <a:extLst xmlns:a="http://schemas.openxmlformats.org/drawingml/2006/main">
              <a:ext uri="{FF2B5EF4-FFF2-40B4-BE49-F238E27FC236}">
                <a16:creationId xmlns:a16="http://schemas.microsoft.com/office/drawing/2014/main" id="{9717C606-C521-4566-A43B-D607912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38150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66F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6F88"/>
                </a:solidFill>
                <a:latin typeface="Arial"/>
                <a:ea typeface="Arial"/>
                <a:cs typeface="Arial"/>
              </a:rPr>
              <a:t>LLM API · RAG · Moderation</a:t>
            </a:r>
          </a:p>
        </p:txBody>
      </p:sp>
      <p:sp>
        <p:nvSpPr>
          <p:cNvPr id="16" name="card-3-description">
            <a:extLst xmlns:a="http://schemas.openxmlformats.org/drawingml/2006/main">
              <a:ext uri="{FF2B5EF4-FFF2-40B4-BE49-F238E27FC236}">
                <a16:creationId xmlns:a16="http://schemas.microsoft.com/office/drawing/2014/main" id="{5A54A4C2-36CE-4E55-8FBF-5E0DAD35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591300"/>
            <a:ext cx="3390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797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97476"/>
                </a:solidFill>
                <a:latin typeface="Arial"/>
                <a:ea typeface="Arial"/>
                <a:cs typeface="Arial"/>
              </a:rPr>
              <a:t>Character-scoped context, structured replies, safety routing, evaluation, and optional speech</a:t>
            </a:r>
          </a:p>
        </p:txBody>
      </p:sp>
      <p:sp>
        <p:nvSpPr>
          <p:cNvPr id="17" name="card-4">
            <a:extLst xmlns:a="http://schemas.openxmlformats.org/drawingml/2006/main">
              <a:ext uri="{FF2B5EF4-FFF2-40B4-BE49-F238E27FC236}">
                <a16:creationId xmlns:a16="http://schemas.microsoft.com/office/drawing/2014/main" id="{D1C133B3-FD98-44D5-A953-DCB095F2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581150"/>
            <a:ext cx="3905250" cy="7372350"/>
          </a:xfrm>
          <a:prstGeom xmlns:a="http://schemas.openxmlformats.org/drawingml/2006/main" prst="roundRect">
            <a:avLst>
              <a:gd name="adj" fmla="val 9268"/>
            </a:avLst>
          </a:prstGeom>
          <a:solidFill xmlns:a="http://schemas.openxmlformats.org/drawingml/2006/main">
            <a:srgbClr val="FFF3F6"/>
          </a:solidFill>
          <a:ln xmlns:a="http://schemas.openxmlformats.org/drawingml/2006/main" w="13335">
            <a:solidFill>
              <a:srgbClr val="F2B7C5"/>
            </a:solidFill>
            <a:prstDash val="solid"/>
          </a:ln>
        </p:spPr>
      </p:sp>
      <p:sp>
        <p:nvSpPr>
          <p:cNvPr id="18" name="card-4-icon">
            <a:extLst xmlns:a="http://schemas.openxmlformats.org/drawingml/2006/main">
              <a:ext uri="{FF2B5EF4-FFF2-40B4-BE49-F238E27FC236}">
                <a16:creationId xmlns:a16="http://schemas.microsoft.com/office/drawing/2014/main" id="{35756F95-C9BA-4038-BE23-E8FD8D4C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247650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0">
                <a:solidFill>
                  <a:srgbClr val="29272A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600" b="0">
                <a:solidFill>
                  <a:srgbClr val="29272A"/>
                </a:solidFill>
                <a:latin typeface="Apple Color Emoji"/>
                <a:ea typeface="Apple Color Emoji"/>
                <a:cs typeface="Apple Color Emoji"/>
              </a:rPr>
              <a:t>🛠️</a:t>
            </a:r>
          </a:p>
        </p:txBody>
      </p:sp>
      <p:sp>
        <p:nvSpPr>
          <p:cNvPr id="19" name="card-4-heading">
            <a:extLst xmlns:a="http://schemas.openxmlformats.org/drawingml/2006/main">
              <a:ext uri="{FF2B5EF4-FFF2-40B4-BE49-F238E27FC236}">
                <a16:creationId xmlns:a16="http://schemas.microsoft.com/office/drawing/2014/main" id="{7E31639E-1AA5-4AEF-8E23-47B481E3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375285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Build &amp; Operations</a:t>
            </a:r>
          </a:p>
        </p:txBody>
      </p:sp>
      <p:sp>
        <p:nvSpPr>
          <p:cNvPr id="20" name="card-4-stack">
            <a:extLst xmlns:a="http://schemas.openxmlformats.org/drawingml/2006/main">
              <a:ext uri="{FF2B5EF4-FFF2-40B4-BE49-F238E27FC236}">
                <a16:creationId xmlns:a16="http://schemas.microsoft.com/office/drawing/2014/main" id="{2726F3A9-0F2B-4CD9-9419-882F4F10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438150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66F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6F88"/>
                </a:solidFill>
                <a:latin typeface="Arial"/>
                <a:ea typeface="Arial"/>
                <a:cs typeface="Arial"/>
              </a:rPr>
              <a:t>Figma · GitHub · CI/CD · OpenTelemetry</a:t>
            </a:r>
          </a:p>
        </p:txBody>
      </p:sp>
      <p:sp>
        <p:nvSpPr>
          <p:cNvPr id="21" name="card-4-description">
            <a:extLst xmlns:a="http://schemas.openxmlformats.org/drawingml/2006/main">
              <a:ext uri="{FF2B5EF4-FFF2-40B4-BE49-F238E27FC236}">
                <a16:creationId xmlns:a16="http://schemas.microsoft.com/office/drawing/2014/main" id="{877A87F7-D772-42FE-8F90-B9234DF8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6591300"/>
            <a:ext cx="3390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797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97476"/>
                </a:solidFill>
                <a:latin typeface="Arial"/>
                <a:ea typeface="Arial"/>
                <a:cs typeface="Arial"/>
              </a:rPr>
              <a:t>Design system, automated tests, privacy review, monitoring, and release management</a:t>
            </a:r>
          </a:p>
        </p:txBody>
      </p:sp>
      <p:sp>
        <p:nvSpPr>
          <p:cNvPr id="22" name="prototype-production-pill">
            <a:extLst xmlns:a="http://schemas.openxmlformats.org/drawingml/2006/main">
              <a:ext uri="{FF2B5EF4-FFF2-40B4-BE49-F238E27FC236}">
                <a16:creationId xmlns:a16="http://schemas.microsoft.com/office/drawing/2014/main" id="{A19C2738-2FC4-4E3E-906A-E64B0E3E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9391650"/>
            <a:ext cx="73914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DDE5"/>
          </a:solidFill>
          <a:ln xmlns:a="http://schemas.openxmlformats.org/drawingml/2006/main" w="0">
            <a:solidFill>
              <a:srgbClr val="FBDDE5"/>
            </a:solidFill>
            <a:prstDash val="solid"/>
          </a:ln>
        </p:spPr>
      </p:sp>
      <p:sp>
        <p:nvSpPr>
          <p:cNvPr id="23" name="prototype-production-pill-text">
            <a:extLst xmlns:a="http://schemas.openxmlformats.org/drawingml/2006/main">
              <a:ext uri="{FF2B5EF4-FFF2-40B4-BE49-F238E27FC236}">
                <a16:creationId xmlns:a16="http://schemas.microsoft.com/office/drawing/2014/main" id="{9613B731-0044-48E2-BB22-7C342DBB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9448800"/>
            <a:ext cx="708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D66F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6F88"/>
                </a:solidFill>
                <a:latin typeface="Arial"/>
                <a:ea typeface="Arial"/>
                <a:cs typeface="Arial"/>
              </a:rPr>
              <a:t>Prototype now: offline web · Production path: secure mobile + server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82826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2026-08-06T18:14:37.3500000Z</dcterms:created>
  <dcterms:modified xsi:type="dcterms:W3CDTF">2026-08-06T18:14:37.3510000Z</dcterms:modified>
</coreProperties>
</file>