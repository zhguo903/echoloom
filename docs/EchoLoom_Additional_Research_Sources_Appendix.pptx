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ba3589e0184b8f" /><Relationship Type="http://schemas.openxmlformats.org/officeDocument/2006/relationships/extended-properties" Target="/docProps/app.xml" Id="R90be1a1849c94d68" /><Relationship Type="http://schemas.openxmlformats.org/officeDocument/2006/relationships/officeDocument" Target="/ppt/presentation.xml" Id="R6119b12e1e594d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d103a9fd5c4fdb"/>
  </p:sldMasterIdLst>
  <p:notesMasterIdLst>
    <p:notesMasterId xmlns:r="http://schemas.openxmlformats.org/officeDocument/2006/relationships" r:id="R14c765dfc8e94315"/>
  </p:notesMasterIdLst>
  <p:sldIdLst>
    <p:sldId xmlns:r="http://schemas.openxmlformats.org/officeDocument/2006/relationships" id="256" r:id="Rcc79fbf4252e458c"/>
    <p:sldId xmlns:r="http://schemas.openxmlformats.org/officeDocument/2006/relationships" id="257" r:id="Ra9001c6e2a0f4b43"/>
    <p:sldId xmlns:r="http://schemas.openxmlformats.org/officeDocument/2006/relationships" id="258" r:id="R417b7ad48561497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532c8aec9047bf" /><Relationship Type="http://schemas.openxmlformats.org/officeDocument/2006/relationships/slideMaster" Target="/ppt/slideMasters/slideMaster1.xml" Id="R7ed103a9fd5c4fdb" /><Relationship Type="http://schemas.openxmlformats.org/officeDocument/2006/relationships/notesMaster" Target="/ppt/notesMasters/notesMaster1.xml" Id="R14c765dfc8e94315" /><Relationship Type="http://schemas.openxmlformats.org/officeDocument/2006/relationships/presProps" Target="/ppt/presProps.xml" Id="Rf3c9af49bc474a9a" /><Relationship Type="http://schemas.openxmlformats.org/officeDocument/2006/relationships/tableStyles" Target="/ppt/tableStyles.xml" Id="Rb499c894731f421e" /><Relationship Type="http://schemas.openxmlformats.org/officeDocument/2006/relationships/slide" Target="/ppt/slides/slide1.xml" Id="Rcc79fbf4252e458c" /><Relationship Type="http://schemas.openxmlformats.org/officeDocument/2006/relationships/slide" Target="/ppt/slides/slide2.xml" Id="Ra9001c6e2a0f4b43" /><Relationship Type="http://schemas.openxmlformats.org/officeDocument/2006/relationships/slide" Target="/ppt/slides/slide3.xml" Id="R417b7ad48561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30bd030fe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6002d7abd54e4a" /><Relationship Type="http://schemas.openxmlformats.org/officeDocument/2006/relationships/notesMaster" Target="/ppt/notesMasters/notesMaster1.xml" Id="R613a707206354f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86467995324e0d" /><Relationship Type="http://schemas.openxmlformats.org/officeDocument/2006/relationships/notesMaster" Target="/ppt/notesMasters/notesMaster1.xml" Id="Re5fad704aade45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45b56c97934021" /><Relationship Type="http://schemas.openxmlformats.org/officeDocument/2006/relationships/notesMaster" Target="/ppt/notesMasters/notesMaster1.xml" Id="R85f9e7c7de2b49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https://www.theesa.com/two-thirds-of-americans-play-video-games-every-week-according-tonew-report-from-the-entertainment-software-association/</a:t>
            </a:r>
          </a:p>
          <a:p xmlns:a="http://schemas.openxmlformats.org/drawingml/2006/main">
            <a:r>
              <a:t>- https://sensortower.com/press/press-release-sensor-tower-state-of-gaming-gaming-drove-52-billion-downloads-82b-iap-revenue-on-mobile-and-12b-premium-revenue-on-steam</a:t>
            </a:r>
          </a:p>
          <a:p xmlns:a="http://schemas.openxmlformats.org/drawingml/2006/main">
            <a:r>
              <a:t>- https://sensortower.com/blog/state-of-mobile-2026</a:t>
            </a:r>
          </a:p>
          <a:p xmlns:a="http://schemas.openxmlformats.org/drawingml/2006/main">
            <a:r>
              <a:t>- https://sensortower.com/blog/2025-q1-unified-top-5-otome%20games-units-us-60789073241bc16eb88c6e7f</a:t>
            </a:r>
          </a:p>
          <a:p xmlns:a="http://schemas.openxmlformats.org/drawingml/2006/main">
            <a:r>
              <a:t>- https://techcrunch.com/2025/08/12/ai-companion-apps-on-track-to-pull-in-120m-in-2025/</a:t>
            </a:r>
          </a:p>
          <a:p xmlns:a="http://schemas.openxmlformats.org/drawingml/2006/main">
            <a:r>
              <a:t>- https://character.ai/subscribe</a:t>
            </a:r>
          </a:p>
          <a:p xmlns:a="http://schemas.openxmlformats.org/drawingml/2006/main">
            <a:r>
              <a:t>- https://help.replika.com/hc/en-us/articles/39551043419149-Choosing-a-Subscription</a:t>
            </a:r>
          </a:p>
          <a:p xmlns:a="http://schemas.openxmlformats.org/drawingml/2006/main">
            <a:r>
              <a:t>- https://nomi.ai/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https://blog.character.ai/memory/</a:t>
            </a:r>
          </a:p>
          <a:p xmlns:a="http://schemas.openxmlformats.org/drawingml/2006/main">
            <a:r>
              <a:t>- https://labs.character.ai/reads/about</a:t>
            </a:r>
          </a:p>
          <a:p xmlns:a="http://schemas.openxmlformats.org/drawingml/2006/main">
            <a:r>
              <a:t>- https://help.replika.com/hc/en-us/articles/360046490131-How-do-I-change-my-relationship-status</a:t>
            </a:r>
          </a:p>
          <a:p xmlns:a="http://schemas.openxmlformats.org/drawingml/2006/main">
            <a:r>
              <a:t>- https://nomi.ai/</a:t>
            </a:r>
          </a:p>
          <a:p xmlns:a="http://schemas.openxmlformats.org/drawingml/2006/main">
            <a:r>
              <a:t>- https://www.infoldgames.com/en/home</a:t>
            </a:r>
          </a:p>
          <a:p xmlns:a="http://schemas.openxmlformats.org/drawingml/2006/main">
            <a:r>
              <a:t>- https://www.ftc.gov/news-events/news/press-releases/2025/09/ftc-launches-inquiry-ai-chatbots-acting-companions</a:t>
            </a:r>
          </a:p>
          <a:p xmlns:a="http://schemas.openxmlformats.org/drawingml/2006/main">
            <a:r>
              <a:t>- /Users/zihan/UofT/CSC454/EchoLoom_Interactive_Demo/docs/RESEARCH_BASIS.md</a:t>
            </a:r>
          </a:p>
          <a:p xmlns:a="http://schemas.openxmlformats.org/drawingml/2006/main">
            <a:r>
              <a:t>- /Users/zihan/UofT/CSC454/EchoLoom_Interactive_Demo/docs/RESEARCH_TRACEABILITY.md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https://fanexpohq.com/fanexpoCanada/our-schedule/</a:t>
            </a:r>
          </a:p>
          <a:p xmlns:a="http://schemas.openxmlformats.org/drawingml/2006/main">
            <a:r>
              <a:t>- https://www.animenorth.com/</a:t>
            </a:r>
          </a:p>
          <a:p xmlns:a="http://schemas.openxmlformats.org/drawingml/2006/main">
            <a:r>
              <a:t>- https://sop.utoronto.ca/group/anime-and-manga-association/</a:t>
            </a:r>
          </a:p>
          <a:p xmlns:a="http://schemas.openxmlformats.org/drawingml/2006/main">
            <a:r>
              <a:t>- https://www.utrg.ca/</a:t>
            </a:r>
          </a:p>
          <a:p xmlns:a="http://schemas.openxmlformats.org/drawingml/2006/main">
            <a:r>
              <a:t>- /Users/zihan/UofT/CSC454/EchoLoom_Interactive_Demo/docs/PRODUCT_BRIEF.md</a:t>
            </a:r>
          </a:p>
          <a:p xmlns:a="http://schemas.openxmlformats.org/drawingml/2006/main">
            <a:r>
              <a:t>- /Users/zihan/UofT/CSC454/EchoLoom_Interactive_Demo/docs/RESEARCH_BASIS.md</a:t>
            </a:r>
          </a:p>
          <a:p xmlns:a="http://schemas.openxmlformats.org/drawingml/2006/main">
            <a:r>
              <a:t>- /Users/zihan/UofT/CSC454/EchoLoom_Interactive_Demo/docs/RESEARCH_TRACEABILITY.md</a:t>
            </a:r>
          </a:p>
          <a:p xmlns:a="http://schemas.openxmlformats.org/drawingml/2006/main">
            <a:r>
              <a:t>- /Users/zihan/UofT/CSC454/EchoLoom_Interactive_Demo/docs/PRODUCT_SPEC.md</a:t>
            </a:r>
          </a:p>
          <a:p xmlns:a="http://schemas.openxmlformats.org/drawingml/2006/main">
            <a:r>
              <a:t>- /Users/zihan/UofT/CSC454/EchoLoom_Interactive_Demo/docs/ARCHITECTURE.md</a:t>
            </a:r>
          </a:p>
          <a:p xmlns:a="http://schemas.openxmlformats.org/drawingml/2006/main">
            <a:r>
              <a:t>- /Users/zihan/UofT/CSC454/EchoLoom_Interactive_Demo/docs/DEMO_FLOW.md</a:t>
            </a:r>
          </a:p>
          <a:p xmlns:a="http://schemas.openxmlformats.org/drawingml/2006/main">
            <a:r>
              <a:t>- /Users/zihan/UofT/CSC454/EchoLoom_Interactive_Demo/PLANS.md</a:t>
            </a:r>
          </a:p>
          <a:p xmlns:a="http://schemas.openxmlformats.org/drawingml/2006/main">
            <a:r>
              <a:t>- /Users/zihan/UofT/CSC454/EchoLoom_Interactive_Demo/tools/smoke-test.mjs</a:t>
            </a:r>
          </a:p>
          <a:p xmlns:a="http://schemas.openxmlformats.org/drawingml/2006/main">
            <a:r>
              <a:t>- /Users/zihan/UofT/CSC454/EchoLoom_Interactive_Demo/tools/state-test.mjs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4db771b444c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c61ddbdea4380" /><Relationship Type="http://schemas.openxmlformats.org/officeDocument/2006/relationships/slideLayout" Target="/ppt/slideLayouts/slideLayout1.xml" Id="R8208b6ba1e314b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08b6ba1e314b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20a4cb2674e9d" /><Relationship Type="http://schemas.openxmlformats.org/officeDocument/2006/relationships/notesSlide" Target="/ppt/notesSlides/notesSlide1.xml" Id="Rbdb51f1e8b5f40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8d04120c047a5" /><Relationship Type="http://schemas.openxmlformats.org/officeDocument/2006/relationships/notesSlide" Target="/ppt/notesSlides/notesSlide2.xml" Id="Rea6725cdd25f4b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4569285c64b66" /><Relationship Type="http://schemas.openxmlformats.org/officeDocument/2006/relationships/notesSlide" Target="/ppt/notesSlides/notesSlide3.xml" Id="Rbbc0276463c047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8D92D4-BAB8-4BFA-91D5-2346AFF1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"/>
            <a:ext cx="1609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8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Appendix B: Market and Category Sources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6E7773-5911-4DBC-827B-42250305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85900"/>
            <a:ext cx="1609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9A7BA"/>
            </a:solidFill>
            <a:prstDash val="solid"/>
          </a:ln>
        </p:spPr>
      </p:sp>
      <p:sp>
        <p:nvSpPr>
          <p:cNvPr id="3" name="left-section-title">
            <a:extLst xmlns:a="http://schemas.openxmlformats.org/drawingml/2006/main">
              <a:ext uri="{FF2B5EF4-FFF2-40B4-BE49-F238E27FC236}">
                <a16:creationId xmlns:a16="http://schemas.microsoft.com/office/drawing/2014/main" id="{F8977C4C-3A90-4391-A82C-3DAE319E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66900"/>
            <a:ext cx="757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96F9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F90"/>
                </a:solidFill>
                <a:latin typeface="Arial"/>
                <a:ea typeface="Arial"/>
                <a:cs typeface="Arial"/>
              </a:rPr>
              <a:t>Game and Mobile Market Evidence</a:t>
            </a:r>
          </a:p>
        </p:txBody>
      </p:sp>
      <p:sp>
        <p:nvSpPr>
          <p:cNvPr id="4" name="right-section-title">
            <a:extLst xmlns:a="http://schemas.openxmlformats.org/drawingml/2006/main">
              <a:ext uri="{FF2B5EF4-FFF2-40B4-BE49-F238E27FC236}">
                <a16:creationId xmlns:a16="http://schemas.microsoft.com/office/drawing/2014/main" id="{5BF5A624-EE67-4FFE-AF17-2E8478E3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757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96F9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F90"/>
                </a:solidFill>
                <a:latin typeface="Arial"/>
                <a:ea typeface="Arial"/>
                <a:cs typeface="Arial"/>
              </a:rPr>
              <a:t>AI Companion Demand and Pricing</a:t>
            </a:r>
          </a:p>
        </p:txBody>
      </p:sp>
      <p:sp>
        <p:nvSpPr>
          <p:cNvPr id="5" name="left-section-rule">
            <a:extLst xmlns:a="http://schemas.openxmlformats.org/drawingml/2006/main">
              <a:ext uri="{FF2B5EF4-FFF2-40B4-BE49-F238E27FC236}">
                <a16:creationId xmlns:a16="http://schemas.microsoft.com/office/drawing/2014/main" id="{528BBF35-2EC4-4887-92B0-AFFFA6D5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1457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9A7BA"/>
            </a:solidFill>
            <a:prstDash val="solid"/>
          </a:ln>
        </p:spPr>
      </p:sp>
      <p:sp>
        <p:nvSpPr>
          <p:cNvPr id="6" name="right-section-rule">
            <a:extLst xmlns:a="http://schemas.openxmlformats.org/drawingml/2006/main">
              <a:ext uri="{FF2B5EF4-FFF2-40B4-BE49-F238E27FC236}">
                <a16:creationId xmlns:a16="http://schemas.microsoft.com/office/drawing/2014/main" id="{856B8DE6-ADEC-41DF-B318-8DB34F50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1457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9A7BA"/>
            </a:solidFill>
            <a:prstDash val="solid"/>
          </a:ln>
        </p:spPr>
      </p:sp>
      <p:sp>
        <p:nvSpPr>
          <p:cNvPr id="7" name="left-entry-1-lead">
            <a:extLst xmlns:a="http://schemas.openxmlformats.org/drawingml/2006/main">
              <a:ext uri="{FF2B5EF4-FFF2-40B4-BE49-F238E27FC236}">
                <a16:creationId xmlns:a16="http://schemas.microsoft.com/office/drawing/2014/main" id="{3AAA6117-D50A-40DB-B46C-DD679A84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[9] Entertainment Software Association (2026).</a:t>
            </a:r>
          </a:p>
        </p:txBody>
      </p:sp>
      <p:sp>
        <p:nvSpPr>
          <p:cNvPr id="8" name="left-entry-1-body">
            <a:extLst xmlns:a="http://schemas.openxmlformats.org/drawingml/2006/main">
              <a:ext uri="{FF2B5EF4-FFF2-40B4-BE49-F238E27FC236}">
                <a16:creationId xmlns:a16="http://schemas.microsoft.com/office/drawing/2014/main" id="{ABB3821C-1F24-4FC1-9073-A8A49E5C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337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2026 Essential Facts About the U.S. Video Game Industry.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212.3M weekly U.S. players; 46% women; average age 37.</a:t>
            </a:r>
          </a:p>
        </p:txBody>
      </p:sp>
      <p:sp>
        <p:nvSpPr>
          <p:cNvPr id="9" name="left-entry-1-rule">
            <a:extLst xmlns:a="http://schemas.openxmlformats.org/drawingml/2006/main">
              <a:ext uri="{FF2B5EF4-FFF2-40B4-BE49-F238E27FC236}">
                <a16:creationId xmlns:a16="http://schemas.microsoft.com/office/drawing/2014/main" id="{E58D576B-7B27-49D2-AA88-ACCEBA36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338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0" name="left-entry-2-lead">
            <a:extLst xmlns:a="http://schemas.openxmlformats.org/drawingml/2006/main">
              <a:ext uri="{FF2B5EF4-FFF2-40B4-BE49-F238E27FC236}">
                <a16:creationId xmlns:a16="http://schemas.microsoft.com/office/drawing/2014/main" id="{A1869959-1A10-4952-B914-1D7E6E04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[10] Sensor Tower (2026).</a:t>
            </a:r>
          </a:p>
        </p:txBody>
      </p:sp>
      <p:sp>
        <p:nvSpPr>
          <p:cNvPr id="11" name="left-entry-2-body">
            <a:extLst xmlns:a="http://schemas.openxmlformats.org/drawingml/2006/main">
              <a:ext uri="{FF2B5EF4-FFF2-40B4-BE49-F238E27FC236}">
                <a16:creationId xmlns:a16="http://schemas.microsoft.com/office/drawing/2014/main" id="{59EAA0D8-7D38-4B8C-B4E4-6556E01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529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State of Gaming 2026.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52B game downloads in 2025; mobile IAP revenue reached USD 82B.</a:t>
            </a:r>
          </a:p>
        </p:txBody>
      </p:sp>
      <p:sp>
        <p:nvSpPr>
          <p:cNvPr id="12" name="left-entry-2-rule">
            <a:extLst xmlns:a="http://schemas.openxmlformats.org/drawingml/2006/main">
              <a:ext uri="{FF2B5EF4-FFF2-40B4-BE49-F238E27FC236}">
                <a16:creationId xmlns:a16="http://schemas.microsoft.com/office/drawing/2014/main" id="{62C41DB1-34BB-4BF2-A6F7-75F9532A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3" name="left-entry-3-lead">
            <a:extLst xmlns:a="http://schemas.openxmlformats.org/drawingml/2006/main">
              <a:ext uri="{FF2B5EF4-FFF2-40B4-BE49-F238E27FC236}">
                <a16:creationId xmlns:a16="http://schemas.microsoft.com/office/drawing/2014/main" id="{57672DBC-A545-4D02-8D38-E0B162E0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[11] Sensor Tower (2026).</a:t>
            </a:r>
          </a:p>
        </p:txBody>
      </p:sp>
      <p:sp>
        <p:nvSpPr>
          <p:cNvPr id="14" name="left-entry-3-body">
            <a:extLst xmlns:a="http://schemas.openxmlformats.org/drawingml/2006/main">
              <a:ext uri="{FF2B5EF4-FFF2-40B4-BE49-F238E27FC236}">
                <a16:creationId xmlns:a16="http://schemas.microsoft.com/office/drawing/2014/main" id="{876B6077-38BB-48B2-9CCA-C2A14F3A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1722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State of Mobile 2026.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Global app IAP reached USD 167B; non-game apps surpassed games.</a:t>
            </a:r>
          </a:p>
        </p:txBody>
      </p:sp>
      <p:sp>
        <p:nvSpPr>
          <p:cNvPr id="15" name="left-entry-3-rule">
            <a:extLst xmlns:a="http://schemas.openxmlformats.org/drawingml/2006/main">
              <a:ext uri="{FF2B5EF4-FFF2-40B4-BE49-F238E27FC236}">
                <a16:creationId xmlns:a16="http://schemas.microsoft.com/office/drawing/2014/main" id="{A5FA276D-4A75-42B6-B959-6E1322EE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3723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6" name="left-entry-4-lead">
            <a:extLst xmlns:a="http://schemas.openxmlformats.org/drawingml/2006/main">
              <a:ext uri="{FF2B5EF4-FFF2-40B4-BE49-F238E27FC236}">
                <a16:creationId xmlns:a16="http://schemas.microsoft.com/office/drawing/2014/main" id="{6EC90670-7D2D-4E26-BDE4-FF5C0953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4295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[12] Sensor Tower (2025).</a:t>
            </a:r>
          </a:p>
        </p:txBody>
      </p:sp>
      <p:sp>
        <p:nvSpPr>
          <p:cNvPr id="17" name="left-entry-4-body">
            <a:extLst xmlns:a="http://schemas.openxmlformats.org/drawingml/2006/main">
              <a:ext uri="{FF2B5EF4-FFF2-40B4-BE49-F238E27FC236}">
                <a16:creationId xmlns:a16="http://schemas.microsoft.com/office/drawing/2014/main" id="{F86667E8-D195-4B27-96CF-B8DE6A2A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7914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Top 5 Otome Games Performance in the U.S., Q1 2025.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Love and Deepspace led the measured cohort in revenue and active users.</a:t>
            </a:r>
          </a:p>
        </p:txBody>
      </p:sp>
      <p:sp>
        <p:nvSpPr>
          <p:cNvPr id="18" name="right-entry-1-lead">
            <a:extLst xmlns:a="http://schemas.openxmlformats.org/drawingml/2006/main">
              <a:ext uri="{FF2B5EF4-FFF2-40B4-BE49-F238E27FC236}">
                <a16:creationId xmlns:a16="http://schemas.microsoft.com/office/drawing/2014/main" id="{D1E668FB-656A-4BA0-A742-B6500466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[13] Perez / TechCrunch, citing Appfigures (2025).</a:t>
            </a:r>
          </a:p>
        </p:txBody>
      </p:sp>
      <p:sp>
        <p:nvSpPr>
          <p:cNvPr id="19" name="right-entry-1-body">
            <a:extLst xmlns:a="http://schemas.openxmlformats.org/drawingml/2006/main">
              <a:ext uri="{FF2B5EF4-FFF2-40B4-BE49-F238E27FC236}">
                <a16:creationId xmlns:a16="http://schemas.microsoft.com/office/drawing/2014/main" id="{08C9B504-2807-42AE-87C8-E6391DA9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337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AI Companion Apps on Track to Pull in $120M in 2025.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337 revenue-generating apps; 220M downloads; USD 82M H1 revenue.</a:t>
            </a:r>
          </a:p>
        </p:txBody>
      </p:sp>
      <p:sp>
        <p:nvSpPr>
          <p:cNvPr id="20" name="right-entry-1-rule">
            <a:extLst xmlns:a="http://schemas.openxmlformats.org/drawingml/2006/main">
              <a:ext uri="{FF2B5EF4-FFF2-40B4-BE49-F238E27FC236}">
                <a16:creationId xmlns:a16="http://schemas.microsoft.com/office/drawing/2014/main" id="{1895FB0D-A707-4978-A811-231F4F38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338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1" name="right-entry-2-lead">
            <a:extLst xmlns:a="http://schemas.openxmlformats.org/drawingml/2006/main">
              <a:ext uri="{FF2B5EF4-FFF2-40B4-BE49-F238E27FC236}">
                <a16:creationId xmlns:a16="http://schemas.microsoft.com/office/drawing/2014/main" id="{5C07BF80-F34B-47D4-8243-30CA770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[14] Character.AI (2026).</a:t>
            </a:r>
          </a:p>
        </p:txBody>
      </p:sp>
      <p:sp>
        <p:nvSpPr>
          <p:cNvPr id="22" name="right-entry-2-body">
            <a:extLst xmlns:a="http://schemas.openxmlformats.org/drawingml/2006/main">
              <a:ext uri="{FF2B5EF4-FFF2-40B4-BE49-F238E27FC236}">
                <a16:creationId xmlns:a16="http://schemas.microsoft.com/office/drawing/2014/main" id="{9688F6C0-51C9-4B2A-8B3B-610DF55A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529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c.ai+ Subscription.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USD 9.99/month or USD 94.99/year; better memory and unlimited voice calls.</a:t>
            </a:r>
          </a:p>
        </p:txBody>
      </p:sp>
      <p:sp>
        <p:nvSpPr>
          <p:cNvPr id="23" name="right-entry-2-rule">
            <a:extLst xmlns:a="http://schemas.openxmlformats.org/drawingml/2006/main">
              <a:ext uri="{FF2B5EF4-FFF2-40B4-BE49-F238E27FC236}">
                <a16:creationId xmlns:a16="http://schemas.microsoft.com/office/drawing/2014/main" id="{17229255-2442-472D-8D85-DF1C3A82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4" name="right-entry-3-lead">
            <a:extLst xmlns:a="http://schemas.openxmlformats.org/drawingml/2006/main">
              <a:ext uri="{FF2B5EF4-FFF2-40B4-BE49-F238E27FC236}">
                <a16:creationId xmlns:a16="http://schemas.microsoft.com/office/drawing/2014/main" id="{0F3892A4-1A1E-4E0B-B9DC-D9CCD692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[15] Replika (2026).</a:t>
            </a:r>
          </a:p>
        </p:txBody>
      </p:sp>
      <p:sp>
        <p:nvSpPr>
          <p:cNvPr id="25" name="right-entry-3-body">
            <a:extLst xmlns:a="http://schemas.openxmlformats.org/drawingml/2006/main">
              <a:ext uri="{FF2B5EF4-FFF2-40B4-BE49-F238E27FC236}">
                <a16:creationId xmlns:a16="http://schemas.microsoft.com/office/drawing/2014/main" id="{ED77E1F5-9320-4639-BA43-2AAB858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722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Choosing a Subscription.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Free, Pro, Ultra, and Platinum tiers; memory, voice, images, and calls.</a:t>
            </a:r>
          </a:p>
        </p:txBody>
      </p:sp>
      <p:sp>
        <p:nvSpPr>
          <p:cNvPr id="26" name="right-entry-3-rule">
            <a:extLst xmlns:a="http://schemas.openxmlformats.org/drawingml/2006/main">
              <a:ext uri="{FF2B5EF4-FFF2-40B4-BE49-F238E27FC236}">
                <a16:creationId xmlns:a16="http://schemas.microsoft.com/office/drawing/2014/main" id="{E5C9B3B1-CC60-4D49-A65C-93779136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3723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7" name="right-entry-4-lead">
            <a:extLst xmlns:a="http://schemas.openxmlformats.org/drawingml/2006/main">
              <a:ext uri="{FF2B5EF4-FFF2-40B4-BE49-F238E27FC236}">
                <a16:creationId xmlns:a16="http://schemas.microsoft.com/office/drawing/2014/main" id="{41962CB5-E998-4034-81D8-210C29B8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4295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[16] Nomi.ai (2026).</a:t>
            </a:r>
          </a:p>
        </p:txBody>
      </p:sp>
      <p:sp>
        <p:nvSpPr>
          <p:cNvPr id="28" name="right-entry-4-body">
            <a:extLst xmlns:a="http://schemas.openxmlformats.org/drawingml/2006/main">
              <a:ext uri="{FF2B5EF4-FFF2-40B4-BE49-F238E27FC236}">
                <a16:creationId xmlns:a16="http://schemas.microsoft.com/office/drawing/2014/main" id="{86D5F67E-4516-497C-8B1F-B105C85C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7914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AI Companion With Memory.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Short-, medium-, and long-term memory, customization, voice, and proactive chat.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B9F673A-732C-418F-A414-E3FE0853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525000"/>
            <a:ext cx="1609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A7BA"/>
            </a:solidFill>
            <a:prstDash val="solid"/>
          </a:ln>
        </p:spPr>
      </p:sp>
      <p:sp>
        <p:nvSpPr>
          <p:cNvPr id="30" name="footer-summary">
            <a:extLst xmlns:a="http://schemas.openxmlformats.org/drawingml/2006/main">
              <a:ext uri="{FF2B5EF4-FFF2-40B4-BE49-F238E27FC236}">
                <a16:creationId xmlns:a16="http://schemas.microsoft.com/office/drawing/2014/main" id="{617AE64F-BAEB-4C74-B257-7DEB41C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744075"/>
            <a:ext cx="1609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Together, these sources establish broad entertainment demand, direct AI-companion activity, and realistic pricing benchmarks.</a:t>
            </a:r>
          </a:p>
        </p:txBody>
      </p:sp>
    </p:spTree>
    <p:extLst>
      <p:ext uri="{BB962C8B-B14F-4D97-AF65-F5344CB8AC3E}">
        <p14:creationId xmlns:p14="http://schemas.microsoft.com/office/powerpoint/2010/main" val="932166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4802B3-0A4D-4FC6-AF20-BB0A5DB1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"/>
            <a:ext cx="1609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8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Appendix B: Product, Memory, and Safety Sources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0516CD-3C53-4426-B65D-F69C585A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85900"/>
            <a:ext cx="1609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9A7BA"/>
            </a:solidFill>
            <a:prstDash val="solid"/>
          </a:ln>
        </p:spPr>
      </p:sp>
      <p:sp>
        <p:nvSpPr>
          <p:cNvPr id="3" name="left-section-title">
            <a:extLst xmlns:a="http://schemas.openxmlformats.org/drawingml/2006/main">
              <a:ext uri="{FF2B5EF4-FFF2-40B4-BE49-F238E27FC236}">
                <a16:creationId xmlns:a16="http://schemas.microsoft.com/office/drawing/2014/main" id="{CCEA2654-8F85-4EDB-BF0C-690CE2D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66900"/>
            <a:ext cx="757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96F9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F90"/>
                </a:solidFill>
                <a:latin typeface="Arial"/>
                <a:ea typeface="Arial"/>
                <a:cs typeface="Arial"/>
              </a:rPr>
              <a:t>Memory and Relationship Product Evidence</a:t>
            </a:r>
          </a:p>
        </p:txBody>
      </p:sp>
      <p:sp>
        <p:nvSpPr>
          <p:cNvPr id="4" name="right-section-title">
            <a:extLst xmlns:a="http://schemas.openxmlformats.org/drawingml/2006/main">
              <a:ext uri="{FF2B5EF4-FFF2-40B4-BE49-F238E27FC236}">
                <a16:creationId xmlns:a16="http://schemas.microsoft.com/office/drawing/2014/main" id="{66348133-3512-487B-ACE9-7B11E74D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757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96F9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F90"/>
                </a:solidFill>
                <a:latin typeface="Arial"/>
                <a:ea typeface="Arial"/>
                <a:cs typeface="Arial"/>
              </a:rPr>
              <a:t>Category, Trust, and Research Evidence</a:t>
            </a:r>
          </a:p>
        </p:txBody>
      </p:sp>
      <p:sp>
        <p:nvSpPr>
          <p:cNvPr id="5" name="left-section-rule">
            <a:extLst xmlns:a="http://schemas.openxmlformats.org/drawingml/2006/main">
              <a:ext uri="{FF2B5EF4-FFF2-40B4-BE49-F238E27FC236}">
                <a16:creationId xmlns:a16="http://schemas.microsoft.com/office/drawing/2014/main" id="{38B1DFF5-A4DA-4FF8-8271-62EC3C41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1457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9A7BA"/>
            </a:solidFill>
            <a:prstDash val="solid"/>
          </a:ln>
        </p:spPr>
      </p:sp>
      <p:sp>
        <p:nvSpPr>
          <p:cNvPr id="6" name="right-section-rule">
            <a:extLst xmlns:a="http://schemas.openxmlformats.org/drawingml/2006/main">
              <a:ext uri="{FF2B5EF4-FFF2-40B4-BE49-F238E27FC236}">
                <a16:creationId xmlns:a16="http://schemas.microsoft.com/office/drawing/2014/main" id="{21363828-D0A5-46DE-B012-515FDEB1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1457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9A7BA"/>
            </a:solidFill>
            <a:prstDash val="solid"/>
          </a:ln>
        </p:spPr>
      </p:sp>
      <p:sp>
        <p:nvSpPr>
          <p:cNvPr id="7" name="left-entry-1-lead">
            <a:extLst xmlns:a="http://schemas.openxmlformats.org/drawingml/2006/main">
              <a:ext uri="{FF2B5EF4-FFF2-40B4-BE49-F238E27FC236}">
                <a16:creationId xmlns:a16="http://schemas.microsoft.com/office/drawing/2014/main" id="{8B0E18DD-F578-43F5-8F2F-AA3DB14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[17] Character.AI (2026).</a:t>
            </a:r>
          </a:p>
        </p:txBody>
      </p:sp>
      <p:sp>
        <p:nvSpPr>
          <p:cNvPr id="8" name="left-entry-1-body">
            <a:extLst xmlns:a="http://schemas.openxmlformats.org/drawingml/2006/main">
              <a:ext uri="{FF2B5EF4-FFF2-40B4-BE49-F238E27FC236}">
                <a16:creationId xmlns:a16="http://schemas.microsoft.com/office/drawing/2014/main" id="{1B586B01-FC60-4637-AFAE-3720C92B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337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Smarter Memory for Smarter Chats.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Story Memory, Facts, pins, editing, and memory-usage visibility.</a:t>
            </a:r>
          </a:p>
        </p:txBody>
      </p:sp>
      <p:sp>
        <p:nvSpPr>
          <p:cNvPr id="9" name="left-entry-1-rule">
            <a:extLst xmlns:a="http://schemas.openxmlformats.org/drawingml/2006/main">
              <a:ext uri="{FF2B5EF4-FFF2-40B4-BE49-F238E27FC236}">
                <a16:creationId xmlns:a16="http://schemas.microsoft.com/office/drawing/2014/main" id="{7031AA46-8744-4CEB-BAD0-19AFB6DE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338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0" name="left-entry-2-lead">
            <a:extLst xmlns:a="http://schemas.openxmlformats.org/drawingml/2006/main">
              <a:ext uri="{FF2B5EF4-FFF2-40B4-BE49-F238E27FC236}">
                <a16:creationId xmlns:a16="http://schemas.microsoft.com/office/drawing/2014/main" id="{00539C79-7E08-47C6-A6DA-3E1011C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[18] Character.AI Labs (2026).</a:t>
            </a:r>
          </a:p>
        </p:txBody>
      </p:sp>
      <p:sp>
        <p:nvSpPr>
          <p:cNvPr id="11" name="left-entry-2-body">
            <a:extLst xmlns:a="http://schemas.openxmlformats.org/drawingml/2006/main">
              <a:ext uri="{FF2B5EF4-FFF2-40B4-BE49-F238E27FC236}">
                <a16:creationId xmlns:a16="http://schemas.microsoft.com/office/drawing/2014/main" id="{970260BA-76C6-44C6-A7FB-F08C641F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529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About (c.ai) reads.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Serialized human-led fiction with paid chapter unlocks and character-led story context.</a:t>
            </a:r>
          </a:p>
        </p:txBody>
      </p:sp>
      <p:sp>
        <p:nvSpPr>
          <p:cNvPr id="12" name="left-entry-2-rule">
            <a:extLst xmlns:a="http://schemas.openxmlformats.org/drawingml/2006/main">
              <a:ext uri="{FF2B5EF4-FFF2-40B4-BE49-F238E27FC236}">
                <a16:creationId xmlns:a16="http://schemas.microsoft.com/office/drawing/2014/main" id="{413B23FE-FA44-4FC7-B810-8619DD9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3" name="left-entry-3-lead">
            <a:extLst xmlns:a="http://schemas.openxmlformats.org/drawingml/2006/main">
              <a:ext uri="{FF2B5EF4-FFF2-40B4-BE49-F238E27FC236}">
                <a16:creationId xmlns:a16="http://schemas.microsoft.com/office/drawing/2014/main" id="{1936D55D-FBF7-45C7-AA2E-C49CD68A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[19] Replika (2026).</a:t>
            </a:r>
          </a:p>
        </p:txBody>
      </p:sp>
      <p:sp>
        <p:nvSpPr>
          <p:cNvPr id="14" name="left-entry-3-body">
            <a:extLst xmlns:a="http://schemas.openxmlformats.org/drawingml/2006/main">
              <a:ext uri="{FF2B5EF4-FFF2-40B4-BE49-F238E27FC236}">
                <a16:creationId xmlns:a16="http://schemas.microsoft.com/office/drawing/2014/main" id="{4A9F274E-C3F5-483E-9617-6740032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1722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Changing Relationship Status.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Profile-selected friend, romantic, sibling, and mentor modes; paid non-friend access.</a:t>
            </a:r>
          </a:p>
        </p:txBody>
      </p:sp>
      <p:sp>
        <p:nvSpPr>
          <p:cNvPr id="15" name="left-entry-3-rule">
            <a:extLst xmlns:a="http://schemas.openxmlformats.org/drawingml/2006/main">
              <a:ext uri="{FF2B5EF4-FFF2-40B4-BE49-F238E27FC236}">
                <a16:creationId xmlns:a16="http://schemas.microsoft.com/office/drawing/2014/main" id="{9F003C26-71B9-4F55-BD55-1C5BF991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3723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6" name="left-entry-4-lead">
            <a:extLst xmlns:a="http://schemas.openxmlformats.org/drawingml/2006/main">
              <a:ext uri="{FF2B5EF4-FFF2-40B4-BE49-F238E27FC236}">
                <a16:creationId xmlns:a16="http://schemas.microsoft.com/office/drawing/2014/main" id="{D6648C54-C550-48CD-9450-3C01F79F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4295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[20] Nomi.ai (2026).</a:t>
            </a:r>
          </a:p>
        </p:txBody>
      </p:sp>
      <p:sp>
        <p:nvSpPr>
          <p:cNvPr id="17" name="left-entry-4-body">
            <a:extLst xmlns:a="http://schemas.openxmlformats.org/drawingml/2006/main">
              <a:ext uri="{FF2B5EF4-FFF2-40B4-BE49-F238E27FC236}">
                <a16:creationId xmlns:a16="http://schemas.microsoft.com/office/drawing/2014/main" id="{EA2ADB31-9CDE-48F2-99B9-C9DC443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7914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Official Product and Feature Pages.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Memory, customization, voice, proactive messages, and multi-character group chat.</a:t>
            </a:r>
          </a:p>
        </p:txBody>
      </p:sp>
      <p:sp>
        <p:nvSpPr>
          <p:cNvPr id="18" name="right-entry-1-lead">
            <a:extLst xmlns:a="http://schemas.openxmlformats.org/drawingml/2006/main">
              <a:ext uri="{FF2B5EF4-FFF2-40B4-BE49-F238E27FC236}">
                <a16:creationId xmlns:a16="http://schemas.microsoft.com/office/drawing/2014/main" id="{B32ED916-DE4C-4D29-9D14-F59D38EE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[21] Infold Games (2026).</a:t>
            </a:r>
          </a:p>
        </p:txBody>
      </p:sp>
      <p:sp>
        <p:nvSpPr>
          <p:cNvPr id="19" name="right-entry-1-body">
            <a:extLst xmlns:a="http://schemas.openxmlformats.org/drawingml/2006/main">
              <a:ext uri="{FF2B5EF4-FFF2-40B4-BE49-F238E27FC236}">
                <a16:creationId xmlns:a16="http://schemas.microsoft.com/office/drawing/2014/main" id="{0077BE15-C7A5-4256-8B95-4B0B1DD7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337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Official Publisher and Product Site.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Confirms Love and Deepspace within a large romance and character-game portfolio.</a:t>
            </a:r>
          </a:p>
        </p:txBody>
      </p:sp>
      <p:sp>
        <p:nvSpPr>
          <p:cNvPr id="20" name="right-entry-1-rule">
            <a:extLst xmlns:a="http://schemas.openxmlformats.org/drawingml/2006/main">
              <a:ext uri="{FF2B5EF4-FFF2-40B4-BE49-F238E27FC236}">
                <a16:creationId xmlns:a16="http://schemas.microsoft.com/office/drawing/2014/main" id="{33ACAC2B-7905-48B5-B661-00832829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338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1" name="right-entry-2-lead">
            <a:extLst xmlns:a="http://schemas.openxmlformats.org/drawingml/2006/main">
              <a:ext uri="{FF2B5EF4-FFF2-40B4-BE49-F238E27FC236}">
                <a16:creationId xmlns:a16="http://schemas.microsoft.com/office/drawing/2014/main" id="{85D5FDA3-6F3B-4ED5-AB42-A2F29E83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[22] U.S. Federal Trade Commission (2025).</a:t>
            </a:r>
          </a:p>
        </p:txBody>
      </p:sp>
      <p:sp>
        <p:nvSpPr>
          <p:cNvPr id="22" name="right-entry-2-body">
            <a:extLst xmlns:a="http://schemas.openxmlformats.org/drawingml/2006/main">
              <a:ext uri="{FF2B5EF4-FFF2-40B4-BE49-F238E27FC236}">
                <a16:creationId xmlns:a16="http://schemas.microsoft.com/office/drawing/2014/main" id="{3ACCB930-86C1-4D3D-90A6-E8F6B9D8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529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Inquiry into AI Chatbots Acting as Companions.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Safety, monetization, disclosures, youth impacts, and data handling.</a:t>
            </a:r>
          </a:p>
        </p:txBody>
      </p:sp>
      <p:sp>
        <p:nvSpPr>
          <p:cNvPr id="23" name="right-entry-2-rule">
            <a:extLst xmlns:a="http://schemas.openxmlformats.org/drawingml/2006/main">
              <a:ext uri="{FF2B5EF4-FFF2-40B4-BE49-F238E27FC236}">
                <a16:creationId xmlns:a16="http://schemas.microsoft.com/office/drawing/2014/main" id="{8912BEED-C239-448C-8370-D2E9C08E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4" name="right-entry-3-lead">
            <a:extLst xmlns:a="http://schemas.openxmlformats.org/drawingml/2006/main">
              <a:ext uri="{FF2B5EF4-FFF2-40B4-BE49-F238E27FC236}">
                <a16:creationId xmlns:a16="http://schemas.microsoft.com/office/drawing/2014/main" id="{79697629-6A88-47EB-A6DA-C1180C5D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[23] EchoLoom Interview Synthesis (2026).</a:t>
            </a:r>
          </a:p>
        </p:txBody>
      </p:sp>
      <p:sp>
        <p:nvSpPr>
          <p:cNvPr id="25" name="right-entry-3-body">
            <a:extLst xmlns:a="http://schemas.openxmlformats.org/drawingml/2006/main">
              <a:ext uri="{FF2B5EF4-FFF2-40B4-BE49-F238E27FC236}">
                <a16:creationId xmlns:a16="http://schemas.microsoft.com/office/drawing/2014/main" id="{DEEC43FB-6C33-4293-B243-208A78AC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722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Six qualitative interviews.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Exploratory evidence on continuity, autonomy, memory control, and manipulative retention.</a:t>
            </a:r>
          </a:p>
        </p:txBody>
      </p:sp>
      <p:sp>
        <p:nvSpPr>
          <p:cNvPr id="26" name="right-entry-3-rule">
            <a:extLst xmlns:a="http://schemas.openxmlformats.org/drawingml/2006/main">
              <a:ext uri="{FF2B5EF4-FFF2-40B4-BE49-F238E27FC236}">
                <a16:creationId xmlns:a16="http://schemas.microsoft.com/office/drawing/2014/main" id="{4DD6EE46-A9FA-4F82-8790-F5DD8553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3723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7" name="right-entry-4-lead">
            <a:extLst xmlns:a="http://schemas.openxmlformats.org/drawingml/2006/main">
              <a:ext uri="{FF2B5EF4-FFF2-40B4-BE49-F238E27FC236}">
                <a16:creationId xmlns:a16="http://schemas.microsoft.com/office/drawing/2014/main" id="{D847C9E7-33E3-4BEB-A9A2-F022AECC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4295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[24] EchoLoom Research Traceability (2026).</a:t>
            </a:r>
          </a:p>
        </p:txBody>
      </p:sp>
      <p:sp>
        <p:nvSpPr>
          <p:cNvPr id="28" name="right-entry-4-body">
            <a:extLst xmlns:a="http://schemas.openxmlformats.org/drawingml/2006/main">
              <a:ext uri="{FF2B5EF4-FFF2-40B4-BE49-F238E27FC236}">
                <a16:creationId xmlns:a16="http://schemas.microsoft.com/office/drawing/2014/main" id="{6EAA3EB6-25B9-4061-B089-CF4DCB95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7914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Research Basis and Research-to-Design Traceability.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Maps interview themes to implemented behaviours and unresolved hypotheses.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6C37010-12C5-4F5B-B785-4D112A05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525000"/>
            <a:ext cx="1609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A7BA"/>
            </a:solidFill>
            <a:prstDash val="solid"/>
          </a:ln>
        </p:spPr>
      </p:sp>
      <p:sp>
        <p:nvSpPr>
          <p:cNvPr id="30" name="footer-summary">
            <a:extLst xmlns:a="http://schemas.openxmlformats.org/drawingml/2006/main">
              <a:ext uri="{FF2B5EF4-FFF2-40B4-BE49-F238E27FC236}">
                <a16:creationId xmlns:a16="http://schemas.microsoft.com/office/drawing/2014/main" id="{05D97152-459A-4094-B416-BB16B77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744075"/>
            <a:ext cx="1609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The product evidence shows that memory, monetization, identity continuity, and safety are now both competitive and trust concerns.</a:t>
            </a:r>
          </a:p>
        </p:txBody>
      </p:sp>
    </p:spTree>
    <p:extLst>
      <p:ext uri="{BB962C8B-B14F-4D97-AF65-F5344CB8AC3E}">
        <p14:creationId xmlns:p14="http://schemas.microsoft.com/office/powerpoint/2010/main" val="1523952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5D8525-C46D-4268-B600-42966D7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"/>
            <a:ext cx="1609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8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Appendix B: Recruitment and Project Evidence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9BA38A3-FAFD-4BDA-9F3A-C37DFE6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85900"/>
            <a:ext cx="1609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9A7BA"/>
            </a:solidFill>
            <a:prstDash val="solid"/>
          </a:ln>
        </p:spPr>
      </p:sp>
      <p:sp>
        <p:nvSpPr>
          <p:cNvPr id="3" name="left-section-title">
            <a:extLst xmlns:a="http://schemas.openxmlformats.org/drawingml/2006/main">
              <a:ext uri="{FF2B5EF4-FFF2-40B4-BE49-F238E27FC236}">
                <a16:creationId xmlns:a16="http://schemas.microsoft.com/office/drawing/2014/main" id="{E41F8AAE-2B59-4A4E-AB34-0D689A7A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66900"/>
            <a:ext cx="757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96F9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F90"/>
                </a:solidFill>
                <a:latin typeface="Arial"/>
                <a:ea typeface="Arial"/>
                <a:cs typeface="Arial"/>
              </a:rPr>
              <a:t>Toronto Recruitment Channels</a:t>
            </a:r>
          </a:p>
        </p:txBody>
      </p:sp>
      <p:sp>
        <p:nvSpPr>
          <p:cNvPr id="4" name="right-section-title">
            <a:extLst xmlns:a="http://schemas.openxmlformats.org/drawingml/2006/main">
              <a:ext uri="{FF2B5EF4-FFF2-40B4-BE49-F238E27FC236}">
                <a16:creationId xmlns:a16="http://schemas.microsoft.com/office/drawing/2014/main" id="{7B56A508-71F2-46AE-8CB4-2466075F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7572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96F9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6F90"/>
                </a:solidFill>
                <a:latin typeface="Arial"/>
                <a:ea typeface="Arial"/>
                <a:cs typeface="Arial"/>
              </a:rPr>
              <a:t>Internal Project and Build Evidence</a:t>
            </a:r>
          </a:p>
        </p:txBody>
      </p:sp>
      <p:sp>
        <p:nvSpPr>
          <p:cNvPr id="5" name="left-section-rule">
            <a:extLst xmlns:a="http://schemas.openxmlformats.org/drawingml/2006/main">
              <a:ext uri="{FF2B5EF4-FFF2-40B4-BE49-F238E27FC236}">
                <a16:creationId xmlns:a16="http://schemas.microsoft.com/office/drawing/2014/main" id="{9573E676-B88C-467E-B5E8-6265363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1457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9A7BA"/>
            </a:solidFill>
            <a:prstDash val="solid"/>
          </a:ln>
        </p:spPr>
      </p:sp>
      <p:sp>
        <p:nvSpPr>
          <p:cNvPr id="6" name="right-section-rule">
            <a:extLst xmlns:a="http://schemas.openxmlformats.org/drawingml/2006/main">
              <a:ext uri="{FF2B5EF4-FFF2-40B4-BE49-F238E27FC236}">
                <a16:creationId xmlns:a16="http://schemas.microsoft.com/office/drawing/2014/main" id="{D73E3DC3-5EBE-4E7D-8154-D294EB10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14575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E9A7BA"/>
            </a:solidFill>
            <a:prstDash val="solid"/>
          </a:ln>
        </p:spPr>
      </p:sp>
      <p:sp>
        <p:nvSpPr>
          <p:cNvPr id="7" name="left-entry-1-lead">
            <a:extLst xmlns:a="http://schemas.openxmlformats.org/drawingml/2006/main">
              <a:ext uri="{FF2B5EF4-FFF2-40B4-BE49-F238E27FC236}">
                <a16:creationId xmlns:a16="http://schemas.microsoft.com/office/drawing/2014/main" id="{E2F1BA59-F9BB-4402-ADC5-DA041AB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[25] FAN EXPO Canada (2026).</a:t>
            </a:r>
          </a:p>
        </p:txBody>
      </p:sp>
      <p:sp>
        <p:nvSpPr>
          <p:cNvPr id="8" name="left-entry-1-body">
            <a:extLst xmlns:a="http://schemas.openxmlformats.org/drawingml/2006/main">
              <a:ext uri="{FF2B5EF4-FFF2-40B4-BE49-F238E27FC236}">
                <a16:creationId xmlns:a16="http://schemas.microsoft.com/office/drawing/2014/main" id="{BEC0126B-F358-4A93-AC4C-0BF3BD3B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337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Official Toronto Schedule.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Aug. 27–30 at the Metro Toronto Convention Centre; a concentrated fandom audience.</a:t>
            </a:r>
          </a:p>
        </p:txBody>
      </p:sp>
      <p:sp>
        <p:nvSpPr>
          <p:cNvPr id="9" name="left-entry-1-rule">
            <a:extLst xmlns:a="http://schemas.openxmlformats.org/drawingml/2006/main">
              <a:ext uri="{FF2B5EF4-FFF2-40B4-BE49-F238E27FC236}">
                <a16:creationId xmlns:a16="http://schemas.microsoft.com/office/drawing/2014/main" id="{041CA905-6F3F-49BB-B53A-8D3FF656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338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0" name="left-entry-2-lead">
            <a:extLst xmlns:a="http://schemas.openxmlformats.org/drawingml/2006/main">
              <a:ext uri="{FF2B5EF4-FFF2-40B4-BE49-F238E27FC236}">
                <a16:creationId xmlns:a16="http://schemas.microsoft.com/office/drawing/2014/main" id="{096BADEE-19E3-4CCE-8474-24A96DFF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[26] Anime North (2026).</a:t>
            </a:r>
          </a:p>
        </p:txBody>
      </p:sp>
      <p:sp>
        <p:nvSpPr>
          <p:cNvPr id="11" name="left-entry-2-body">
            <a:extLst xmlns:a="http://schemas.openxmlformats.org/drawingml/2006/main">
              <a:ext uri="{FF2B5EF4-FFF2-40B4-BE49-F238E27FC236}">
                <a16:creationId xmlns:a16="http://schemas.microsoft.com/office/drawing/2014/main" id="{C1C5880E-9203-4023-85C6-3AC30DA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529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Official Community and Convention Site.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Toronto anime, manga, music, games, and Japanese-culture audience.</a:t>
            </a:r>
          </a:p>
        </p:txBody>
      </p:sp>
      <p:sp>
        <p:nvSpPr>
          <p:cNvPr id="12" name="left-entry-2-rule">
            <a:extLst xmlns:a="http://schemas.openxmlformats.org/drawingml/2006/main">
              <a:ext uri="{FF2B5EF4-FFF2-40B4-BE49-F238E27FC236}">
                <a16:creationId xmlns:a16="http://schemas.microsoft.com/office/drawing/2014/main" id="{773B19F9-2042-4F1B-84E1-80D8BF1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3" name="left-entry-3-lead">
            <a:extLst xmlns:a="http://schemas.openxmlformats.org/drawingml/2006/main">
              <a:ext uri="{FF2B5EF4-FFF2-40B4-BE49-F238E27FC236}">
                <a16:creationId xmlns:a16="http://schemas.microsoft.com/office/drawing/2014/main" id="{DB95F6DD-34C3-4D3D-8F28-BEBE51CC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[27] U of T Student Anime &amp; Manga Association (2026).</a:t>
            </a:r>
          </a:p>
        </p:txBody>
      </p:sp>
      <p:sp>
        <p:nvSpPr>
          <p:cNvPr id="14" name="left-entry-3-body">
            <a:extLst xmlns:a="http://schemas.openxmlformats.org/drawingml/2006/main">
              <a:ext uri="{FF2B5EF4-FFF2-40B4-BE49-F238E27FC236}">
                <a16:creationId xmlns:a16="http://schemas.microsoft.com/office/drawing/2014/main" id="{EC14AE8D-6F7D-4F3B-A873-DB305F91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1722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Student Organization Portal.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Recognized local group with regular meetings, contests, and events.</a:t>
            </a:r>
          </a:p>
        </p:txBody>
      </p:sp>
      <p:sp>
        <p:nvSpPr>
          <p:cNvPr id="15" name="left-entry-3-rule">
            <a:extLst xmlns:a="http://schemas.openxmlformats.org/drawingml/2006/main">
              <a:ext uri="{FF2B5EF4-FFF2-40B4-BE49-F238E27FC236}">
                <a16:creationId xmlns:a16="http://schemas.microsoft.com/office/drawing/2014/main" id="{30CCCB17-9757-4862-B3D8-A56DDAD2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3723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16" name="left-entry-4-lead">
            <a:extLst xmlns:a="http://schemas.openxmlformats.org/drawingml/2006/main">
              <a:ext uri="{FF2B5EF4-FFF2-40B4-BE49-F238E27FC236}">
                <a16:creationId xmlns:a16="http://schemas.microsoft.com/office/drawing/2014/main" id="{576F7202-DE59-497D-83F7-803E674C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4295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[28] U of T Rhythm Game Club (2026).</a:t>
            </a:r>
          </a:p>
        </p:txBody>
      </p:sp>
      <p:sp>
        <p:nvSpPr>
          <p:cNvPr id="17" name="left-entry-4-body">
            <a:extLst xmlns:a="http://schemas.openxmlformats.org/drawingml/2006/main">
              <a:ext uri="{FF2B5EF4-FFF2-40B4-BE49-F238E27FC236}">
                <a16:creationId xmlns:a16="http://schemas.microsoft.com/office/drawing/2014/main" id="{944C7678-212C-4E5A-81FF-D4EEAC2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7914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Official Club Site.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Gaming community with Discord, tournaments, socials, and in-person meetings.</a:t>
            </a:r>
          </a:p>
        </p:txBody>
      </p:sp>
      <p:sp>
        <p:nvSpPr>
          <p:cNvPr id="18" name="right-entry-1-lead">
            <a:extLst xmlns:a="http://schemas.openxmlformats.org/drawingml/2006/main">
              <a:ext uri="{FF2B5EF4-FFF2-40B4-BE49-F238E27FC236}">
                <a16:creationId xmlns:a16="http://schemas.microsoft.com/office/drawing/2014/main" id="{22076F09-BB3A-441F-BF42-D5BF7CC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[29] EchoLoom Product Brief (2026).</a:t>
            </a:r>
          </a:p>
        </p:txBody>
      </p:sp>
      <p:sp>
        <p:nvSpPr>
          <p:cNvPr id="19" name="right-entry-1-body">
            <a:extLst xmlns:a="http://schemas.openxmlformats.org/drawingml/2006/main">
              <a:ext uri="{FF2B5EF4-FFF2-40B4-BE49-F238E27FC236}">
                <a16:creationId xmlns:a16="http://schemas.microsoft.com/office/drawing/2014/main" id="{82B88D32-37ED-4892-B220-4369D62A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337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Positioning and Prototype Scope.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Target users, product principles, prototype question, and current MVP boundaries.</a:t>
            </a:r>
          </a:p>
        </p:txBody>
      </p:sp>
      <p:sp>
        <p:nvSpPr>
          <p:cNvPr id="20" name="right-entry-1-rule">
            <a:extLst xmlns:a="http://schemas.openxmlformats.org/drawingml/2006/main">
              <a:ext uri="{FF2B5EF4-FFF2-40B4-BE49-F238E27FC236}">
                <a16:creationId xmlns:a16="http://schemas.microsoft.com/office/drawing/2014/main" id="{1491E324-30EA-43F3-B5B7-96A9A82C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338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1" name="right-entry-2-lead">
            <a:extLst xmlns:a="http://schemas.openxmlformats.org/drawingml/2006/main">
              <a:ext uri="{FF2B5EF4-FFF2-40B4-BE49-F238E27FC236}">
                <a16:creationId xmlns:a16="http://schemas.microsoft.com/office/drawing/2014/main" id="{5DA4A41E-F2C8-4F3A-A1EB-B2D83ED5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[30] EchoLoom Research Basis &amp; Traceability (2026).</a:t>
            </a:r>
          </a:p>
        </p:txBody>
      </p:sp>
      <p:sp>
        <p:nvSpPr>
          <p:cNvPr id="22" name="right-entry-2-body">
            <a:extLst xmlns:a="http://schemas.openxmlformats.org/drawingml/2006/main">
              <a:ext uri="{FF2B5EF4-FFF2-40B4-BE49-F238E27FC236}">
                <a16:creationId xmlns:a16="http://schemas.microsoft.com/office/drawing/2014/main" id="{FB2BE5FF-95BD-45EE-BBF1-AF430BF7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529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Six-interview synthesis and design mapping.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Separates direct evidence from unvalidated product hypotheses.</a:t>
            </a:r>
          </a:p>
        </p:txBody>
      </p:sp>
      <p:sp>
        <p:nvSpPr>
          <p:cNvPr id="23" name="right-entry-2-rule">
            <a:extLst xmlns:a="http://schemas.openxmlformats.org/drawingml/2006/main">
              <a:ext uri="{FF2B5EF4-FFF2-40B4-BE49-F238E27FC236}">
                <a16:creationId xmlns:a16="http://schemas.microsoft.com/office/drawing/2014/main" id="{14E472CD-4CAC-451E-8D93-BC9C8F39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4" name="right-entry-3-lead">
            <a:extLst xmlns:a="http://schemas.openxmlformats.org/drawingml/2006/main">
              <a:ext uri="{FF2B5EF4-FFF2-40B4-BE49-F238E27FC236}">
                <a16:creationId xmlns:a16="http://schemas.microsoft.com/office/drawing/2014/main" id="{9D9459DE-35EF-4BF7-B96D-EF2F420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1025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[31] EchoLoom Product Spec &amp; Architecture (2026).</a:t>
            </a:r>
          </a:p>
        </p:txBody>
      </p:sp>
      <p:sp>
        <p:nvSpPr>
          <p:cNvPr id="25" name="right-entry-3-body">
            <a:extLst xmlns:a="http://schemas.openxmlformats.org/drawingml/2006/main">
              <a:ext uri="{FF2B5EF4-FFF2-40B4-BE49-F238E27FC236}">
                <a16:creationId xmlns:a16="http://schemas.microsoft.com/office/drawing/2014/main" id="{9590D768-618B-4D22-AAE4-0D4B5868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7220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Implementation and Data Model.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Character cores, memory types, branch isolation, schema-v8, and offline boundaries.</a:t>
            </a:r>
          </a:p>
        </p:txBody>
      </p:sp>
      <p:sp>
        <p:nvSpPr>
          <p:cNvPr id="26" name="right-entry-3-rule">
            <a:extLst xmlns:a="http://schemas.openxmlformats.org/drawingml/2006/main">
              <a:ext uri="{FF2B5EF4-FFF2-40B4-BE49-F238E27FC236}">
                <a16:creationId xmlns:a16="http://schemas.microsoft.com/office/drawing/2014/main" id="{509966AD-0810-439E-BE60-5024FCEC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3723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FC9D4"/>
            </a:solidFill>
            <a:prstDash val="solid"/>
          </a:ln>
        </p:spPr>
      </p:sp>
      <p:sp>
        <p:nvSpPr>
          <p:cNvPr id="27" name="right-entry-4-lead">
            <a:extLst xmlns:a="http://schemas.openxmlformats.org/drawingml/2006/main">
              <a:ext uri="{FF2B5EF4-FFF2-40B4-BE49-F238E27FC236}">
                <a16:creationId xmlns:a16="http://schemas.microsoft.com/office/drawing/2014/main" id="{96AC83CC-B59A-46B2-B4B7-5F67CB1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429500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272A"/>
                </a:solidFill>
                <a:latin typeface="Arial"/>
                <a:ea typeface="Arial"/>
                <a:cs typeface="Arial"/>
              </a:rPr>
              <a:t>[32] EchoLoom Demo Flow, Plans &amp; Tests (2026).</a:t>
            </a:r>
          </a:p>
        </p:txBody>
      </p:sp>
      <p:sp>
        <p:nvSpPr>
          <p:cNvPr id="28" name="right-entry-4-body">
            <a:extLst xmlns:a="http://schemas.openxmlformats.org/drawingml/2006/main">
              <a:ext uri="{FF2B5EF4-FFF2-40B4-BE49-F238E27FC236}">
                <a16:creationId xmlns:a16="http://schemas.microsoft.com/office/drawing/2014/main" id="{C5BC8EC5-A33B-47AB-B2D7-5522A9F0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791450"/>
            <a:ext cx="7362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Current Journey and Build Evidence.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Latest user path, dated decisions, and automated state, migration, and engine checks.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A2EAC40-4692-45EC-BF81-959AEFF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525000"/>
            <a:ext cx="1609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A7BA"/>
            </a:solidFill>
            <a:prstDash val="solid"/>
          </a:ln>
        </p:spPr>
      </p:sp>
      <p:sp>
        <p:nvSpPr>
          <p:cNvPr id="30" name="footer-summary">
            <a:extLst xmlns:a="http://schemas.openxmlformats.org/drawingml/2006/main">
              <a:ext uri="{FF2B5EF4-FFF2-40B4-BE49-F238E27FC236}">
                <a16:creationId xmlns:a16="http://schemas.microsoft.com/office/drawing/2014/main" id="{3ADAF552-21B5-4397-A914-737B6CFB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744075"/>
            <a:ext cx="1609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292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9272A"/>
                </a:solidFill>
                <a:latin typeface="Arial"/>
                <a:ea typeface="Arial"/>
                <a:cs typeface="Arial"/>
              </a:rPr>
              <a:t>Recruitment sources identify reachable Toronto communities; internal evidence records exactly how research shaped the working prototype.</a:t>
            </a:r>
          </a:p>
        </p:txBody>
      </p:sp>
    </p:spTree>
    <p:extLst>
      <p:ext uri="{BB962C8B-B14F-4D97-AF65-F5344CB8AC3E}">
        <p14:creationId xmlns:p14="http://schemas.microsoft.com/office/powerpoint/2010/main" val="390582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2026-08-06T17:59:37.4040000Z</dcterms:created>
  <dcterms:modified xsi:type="dcterms:W3CDTF">2026-08-06T17:59:37.4040000Z</dcterms:modified>
</coreProperties>
</file>