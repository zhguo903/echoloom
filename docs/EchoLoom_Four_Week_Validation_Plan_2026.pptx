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3961e2346486e" /><Relationship Type="http://schemas.openxmlformats.org/officeDocument/2006/relationships/extended-properties" Target="/docProps/app.xml" Id="Rd30534bf1bcf42b1" /><Relationship Type="http://schemas.openxmlformats.org/officeDocument/2006/relationships/officeDocument" Target="/ppt/presentation.xml" Id="R0c5558b8e821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db874f5c74123"/>
  </p:sldMasterIdLst>
  <p:notesMasterIdLst>
    <p:notesMasterId xmlns:r="http://schemas.openxmlformats.org/officeDocument/2006/relationships" r:id="R5b99cb0fb7a54d22"/>
  </p:notesMasterIdLst>
  <p:sldIdLst>
    <p:sldId xmlns:r="http://schemas.openxmlformats.org/officeDocument/2006/relationships" id="256" r:id="R1d5763aea50b47e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54a7609de428d" /><Relationship Type="http://schemas.openxmlformats.org/officeDocument/2006/relationships/slideMaster" Target="/ppt/slideMasters/slideMaster1.xml" Id="R497db874f5c74123" /><Relationship Type="http://schemas.openxmlformats.org/officeDocument/2006/relationships/notesMaster" Target="/ppt/notesMasters/notesMaster1.xml" Id="R5b99cb0fb7a54d22" /><Relationship Type="http://schemas.openxmlformats.org/officeDocument/2006/relationships/presProps" Target="/ppt/presProps.xml" Id="R58c5de55d87f453c" /><Relationship Type="http://schemas.openxmlformats.org/officeDocument/2006/relationships/tableStyles" Target="/ppt/tableStyles.xml" Id="R66b77d077d2f4228" /><Relationship Type="http://schemas.openxmlformats.org/officeDocument/2006/relationships/slide" Target="/ppt/slides/slide1.xml" Id="R1d5763aea50b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c402058a3c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3fcadbb3849fe" /><Relationship Type="http://schemas.openxmlformats.org/officeDocument/2006/relationships/notesMaster" Target="/ppt/notesMasters/notesMaster1.xml" Id="R8e0fbef329be4d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/Users/zihan/UofT/CSC454/EchoLoom_Interactive_Demo/PLANS.md</a:t>
            </a:r>
          </a:p>
          <a:p xmlns:a="http://schemas.openxmlformats.org/drawingml/2006/main">
            <a:r>
              <a:t>- /Users/zihan/UofT/CSC454/EchoLoom_Interactive_Demo/docs/PRODUCT_BRIEF.md</a:t>
            </a:r>
          </a:p>
          <a:p xmlns:a="http://schemas.openxmlformats.org/drawingml/2006/main">
            <a:r>
              <a:t>- /Users/zihan/UofT/CSC454/EchoLoom_Interactive_Demo/docs/RESEARCH_BASIS.md</a:t>
            </a:r>
          </a:p>
          <a:p xmlns:a="http://schemas.openxmlformats.org/drawingml/2006/main">
            <a:r>
              <a:t>- /Users/zihan/UofT/CSC454/EchoLoom_Interactive_Demo/docs/RESEARCH_TRACEABILITY.md</a:t>
            </a:r>
          </a:p>
          <a:p xmlns:a="http://schemas.openxmlformats.org/drawingml/2006/main">
            <a:r>
              <a:t>- /Users/zihan/UofT/CSC454/EchoLoom_Interactive_Demo/docs/ARCHITECTURE.md</a:t>
            </a:r>
          </a:p>
          <a:p xmlns:a="http://schemas.openxmlformats.org/drawingml/2006/main">
            <a:r>
              <a:t>- /Users/zihan/UofT/CSC454/EchoLoom_Interactive_Demo/docs/OPTIONAL_REAL_AI_UPGRADE.md</a:t>
            </a:r>
          </a:p>
          <a:p xmlns:a="http://schemas.openxmlformats.org/drawingml/2006/main">
            <a:r>
              <a:t>- npm test run on 2026-08-06: smoke suite PASS; schema-v8 state and engine suite PASS.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4cdecf47f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b46cadb8c4df2" /><Relationship Type="http://schemas.openxmlformats.org/officeDocument/2006/relationships/slideLayout" Target="/ppt/slideLayouts/slideLayout1.xml" Id="Re34aa280c6734a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aa280c6734a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aa452304b491d" /><Relationship Type="http://schemas.openxmlformats.org/officeDocument/2006/relationships/notesSlide" Target="/ppt/notesSlides/notesSlide1.xml" Id="R4e4dafaf26dd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C1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3103A460-E107-4F73-8EEE-93DAC1A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Appendix G: Four-week validation plan with explicit scope cuts</a:t>
            </a:r>
          </a:p>
        </p:txBody>
      </p:sp>
      <p:sp>
        <p:nvSpPr>
          <p:cNvPr id="2" name="plan-table-surface">
            <a:extLst xmlns:a="http://schemas.openxmlformats.org/drawingml/2006/main">
              <a:ext uri="{FF2B5EF4-FFF2-40B4-BE49-F238E27FC236}">
                <a16:creationId xmlns:a16="http://schemas.microsoft.com/office/drawing/2014/main" id="{DBA3F857-6F62-4629-BF93-D270357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7373600" cy="55626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CFD"/>
          </a:solidFill>
          <a:ln xmlns:a="http://schemas.openxmlformats.org/drawingml/2006/main" w="0">
            <a:solidFill>
              <a:srgbClr val="FFFCFD"/>
            </a:solidFill>
            <a:prstDash val="solid"/>
          </a:ln>
        </p:spPr>
      </p:sp>
      <p:sp>
        <p:nvSpPr>
          <p:cNvPr id="3" name="header-time">
            <a:extLst xmlns:a="http://schemas.openxmlformats.org/drawingml/2006/main">
              <a:ext uri="{FF2B5EF4-FFF2-40B4-BE49-F238E27FC236}">
                <a16:creationId xmlns:a16="http://schemas.microsoft.com/office/drawing/2014/main" id="{DFCF51AE-8EDB-4D94-B80B-3D1024EE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382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4" name="header-milestone">
            <a:extLst xmlns:a="http://schemas.openxmlformats.org/drawingml/2006/main">
              <a:ext uri="{FF2B5EF4-FFF2-40B4-BE49-F238E27FC236}">
                <a16:creationId xmlns:a16="http://schemas.microsoft.com/office/drawing/2014/main" id="{6EEDD31E-3289-4179-A171-484AB98F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382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Milestone</a:t>
            </a:r>
          </a:p>
        </p:txBody>
      </p:sp>
      <p:sp>
        <p:nvSpPr>
          <p:cNvPr id="5" name="header-deliverable">
            <a:extLst xmlns:a="http://schemas.openxmlformats.org/drawingml/2006/main">
              <a:ext uri="{FF2B5EF4-FFF2-40B4-BE49-F238E27FC236}">
                <a16:creationId xmlns:a16="http://schemas.microsoft.com/office/drawing/2014/main" id="{B47EBFD8-0230-4778-8A06-830CC462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38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6" name="header-saria">
            <a:extLst xmlns:a="http://schemas.openxmlformats.org/drawingml/2006/main">
              <a:ext uri="{FF2B5EF4-FFF2-40B4-BE49-F238E27FC236}">
                <a16:creationId xmlns:a16="http://schemas.microsoft.com/office/drawing/2014/main" id="{806B37F1-82D6-461D-9705-D7CC7DF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38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Saria</a:t>
            </a:r>
          </a:p>
        </p:txBody>
      </p:sp>
      <p:sp>
        <p:nvSpPr>
          <p:cNvPr id="7" name="header-roxy">
            <a:extLst xmlns:a="http://schemas.openxmlformats.org/drawingml/2006/main">
              <a:ext uri="{FF2B5EF4-FFF2-40B4-BE49-F238E27FC236}">
                <a16:creationId xmlns:a16="http://schemas.microsoft.com/office/drawing/2014/main" id="{D634A478-205D-4CBD-9306-6CA2A531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4382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Roxy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15B65D3-3ECF-4B0C-A775-4BFA0F2F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699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7EA2"/>
            </a:solidFill>
            <a:prstDash val="solid"/>
          </a:ln>
        </p:spPr>
      </p:sp>
      <p:sp>
        <p:nvSpPr>
          <p:cNvPr id="9" name="row-1-time">
            <a:extLst xmlns:a="http://schemas.openxmlformats.org/drawingml/2006/main">
              <a:ext uri="{FF2B5EF4-FFF2-40B4-BE49-F238E27FC236}">
                <a16:creationId xmlns:a16="http://schemas.microsoft.com/office/drawing/2014/main" id="{4BEBFA26-1F96-4A70-B8CE-C307DAB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Aug. 7–13</a:t>
            </a:r>
          </a:p>
        </p:txBody>
      </p:sp>
      <p:sp>
        <p:nvSpPr>
          <p:cNvPr id="10" name="row-1-milestone">
            <a:extLst xmlns:a="http://schemas.openxmlformats.org/drawingml/2006/main">
              <a:ext uri="{FF2B5EF4-FFF2-40B4-BE49-F238E27FC236}">
                <a16:creationId xmlns:a16="http://schemas.microsoft.com/office/drawing/2014/main" id="{9A65758E-3C97-4B42-A9A9-8D6BBAD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1" name="row-1-deliverable">
            <a:extLst xmlns:a="http://schemas.openxmlformats.org/drawingml/2006/main">
              <a:ext uri="{FF2B5EF4-FFF2-40B4-BE49-F238E27FC236}">
                <a16:creationId xmlns:a16="http://schemas.microsoft.com/office/drawing/2014/main" id="{3D795C4F-CF0A-4111-8F8A-58F61E4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28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Freeze the schema-v8 demo; recruit 6–8 users; test opening → rescue → investigation → EchoLink; deliver success measures and a ranked issue log</a:t>
            </a:r>
          </a:p>
        </p:txBody>
      </p:sp>
      <p:sp>
        <p:nvSpPr>
          <p:cNvPr id="12" name="row-1-saria">
            <a:extLst xmlns:a="http://schemas.openxmlformats.org/drawingml/2006/main">
              <a:ext uri="{FF2B5EF4-FFF2-40B4-BE49-F238E27FC236}">
                <a16:creationId xmlns:a16="http://schemas.microsoft.com/office/drawing/2014/main" id="{581C2DE6-16DE-4EA6-BED4-53E8BF22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574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Test build, event logging, bug triage, mobile and desktop fixes</a:t>
            </a:r>
          </a:p>
        </p:txBody>
      </p:sp>
      <p:sp>
        <p:nvSpPr>
          <p:cNvPr id="13" name="row-1-roxy">
            <a:extLst xmlns:a="http://schemas.openxmlformats.org/drawingml/2006/main">
              <a:ext uri="{FF2B5EF4-FFF2-40B4-BE49-F238E27FC236}">
                <a16:creationId xmlns:a16="http://schemas.microsoft.com/office/drawing/2014/main" id="{A38ED498-CF70-48D9-8D1A-BB6DDEFA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205740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Screener, recruitment, moderation, synthesis, presentation update</a:t>
            </a:r>
          </a:p>
        </p:txBody>
      </p:sp>
      <p:sp>
        <p:nvSpPr>
          <p:cNvPr id="14" name="row-rule-1">
            <a:extLst xmlns:a="http://schemas.openxmlformats.org/drawingml/2006/main">
              <a:ext uri="{FF2B5EF4-FFF2-40B4-BE49-F238E27FC236}">
                <a16:creationId xmlns:a16="http://schemas.microsoft.com/office/drawing/2014/main" id="{768C6AA8-EB57-4725-AD98-E6E4CC1A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699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D5DE"/>
            </a:solidFill>
            <a:prstDash val="solid"/>
          </a:ln>
        </p:spPr>
      </p:sp>
      <p:sp>
        <p:nvSpPr>
          <p:cNvPr id="15" name="row-2-time">
            <a:extLst xmlns:a="http://schemas.openxmlformats.org/drawingml/2006/main">
              <a:ext uri="{FF2B5EF4-FFF2-40B4-BE49-F238E27FC236}">
                <a16:creationId xmlns:a16="http://schemas.microsoft.com/office/drawing/2014/main" id="{67A3CCC6-B8AF-4596-9DD9-18C2984E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Aug. 14–20</a:t>
            </a:r>
          </a:p>
        </p:txBody>
      </p:sp>
      <p:sp>
        <p:nvSpPr>
          <p:cNvPr id="16" name="row-2-milestone">
            <a:extLst xmlns:a="http://schemas.openxmlformats.org/drawingml/2006/main">
              <a:ext uri="{FF2B5EF4-FFF2-40B4-BE49-F238E27FC236}">
                <a16:creationId xmlns:a16="http://schemas.microsoft.com/office/drawing/2014/main" id="{96EDC485-2ABD-489A-906D-4652C36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Continuity and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trust refinement</a:t>
            </a:r>
          </a:p>
        </p:txBody>
      </p:sp>
      <p:sp>
        <p:nvSpPr>
          <p:cNvPr id="17" name="row-2-deliverable">
            <a:extLst xmlns:a="http://schemas.openxmlformats.org/drawingml/2006/main">
              <a:ext uri="{FF2B5EF4-FFF2-40B4-BE49-F238E27FC236}">
                <a16:creationId xmlns:a16="http://schemas.microsoft.com/office/drawing/2014/main" id="{8EBB5164-16EE-4C0D-8FC0-816A481B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528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Fix top usability issues; simplify memory and relationship language; verify source links, edit/delete, branch rewind, export/import; run a 5-user retest</a:t>
            </a:r>
          </a:p>
        </p:txBody>
      </p:sp>
      <p:sp>
        <p:nvSpPr>
          <p:cNvPr id="18" name="row-2-saria">
            <a:extLst xmlns:a="http://schemas.openxmlformats.org/drawingml/2006/main">
              <a:ext uri="{FF2B5EF4-FFF2-40B4-BE49-F238E27FC236}">
                <a16:creationId xmlns:a16="http://schemas.microsoft.com/office/drawing/2014/main" id="{7C74FA37-C991-4FB4-A85D-8CC2FD04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State and storage fixes, accessibility, regression coverage</a:t>
            </a:r>
          </a:p>
        </p:txBody>
      </p:sp>
      <p:sp>
        <p:nvSpPr>
          <p:cNvPr id="19" name="row-2-roxy">
            <a:extLst xmlns:a="http://schemas.openxmlformats.org/drawingml/2006/main">
              <a:ext uri="{FF2B5EF4-FFF2-40B4-BE49-F238E27FC236}">
                <a16:creationId xmlns:a16="http://schemas.microsoft.com/office/drawing/2014/main" id="{313ABCCA-E3F6-4D70-A5C7-9EC2DAAA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25755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UX copy, prototype sessions, findings and prioritisation</a:t>
            </a:r>
          </a:p>
        </p:txBody>
      </p:sp>
      <p:sp>
        <p:nvSpPr>
          <p:cNvPr id="20" name="row-rule-2">
            <a:extLst xmlns:a="http://schemas.openxmlformats.org/drawingml/2006/main">
              <a:ext uri="{FF2B5EF4-FFF2-40B4-BE49-F238E27FC236}">
                <a16:creationId xmlns:a16="http://schemas.microsoft.com/office/drawing/2014/main" id="{23385E6A-7C03-4AE0-8138-B05AF86D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699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D5DE"/>
            </a:solidFill>
            <a:prstDash val="solid"/>
          </a:ln>
        </p:spPr>
      </p:sp>
      <p:sp>
        <p:nvSpPr>
          <p:cNvPr id="21" name="row-3-time">
            <a:extLst xmlns:a="http://schemas.openxmlformats.org/drawingml/2006/main">
              <a:ext uri="{FF2B5EF4-FFF2-40B4-BE49-F238E27FC236}">
                <a16:creationId xmlns:a16="http://schemas.microsoft.com/office/drawing/2014/main" id="{8439E899-706F-43C4-8C8A-A18730E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Aug. 21–27</a:t>
            </a:r>
          </a:p>
        </p:txBody>
      </p:sp>
      <p:sp>
        <p:nvSpPr>
          <p:cNvPr id="22" name="row-3-milestone">
            <a:extLst xmlns:a="http://schemas.openxmlformats.org/drawingml/2006/main">
              <a:ext uri="{FF2B5EF4-FFF2-40B4-BE49-F238E27FC236}">
                <a16:creationId xmlns:a16="http://schemas.microsoft.com/office/drawing/2014/main" id="{7EA63F98-B0F9-4858-B240-8A267C2E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Constrained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live-AI spike</a:t>
            </a:r>
          </a:p>
        </p:txBody>
      </p:sp>
      <p:sp>
        <p:nvSpPr>
          <p:cNvPr id="23" name="row-3-deliverable">
            <a:extLst xmlns:a="http://schemas.openxmlformats.org/drawingml/2006/main">
              <a:ext uri="{FF2B5EF4-FFF2-40B4-BE49-F238E27FC236}">
                <a16:creationId xmlns:a16="http://schemas.microsoft.com/office/drawing/2014/main" id="{B799EC43-2696-4CD8-8F0A-AFBA3B0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528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One-character server-side provider; offline fallback; scoped memory/context; timeout and error handling; side-by-side quality and safety review</a:t>
            </a:r>
          </a:p>
        </p:txBody>
      </p:sp>
      <p:sp>
        <p:nvSpPr>
          <p:cNvPr id="24" name="row-3-saria">
            <a:extLst xmlns:a="http://schemas.openxmlformats.org/drawingml/2006/main">
              <a:ext uri="{FF2B5EF4-FFF2-40B4-BE49-F238E27FC236}">
                <a16:creationId xmlns:a16="http://schemas.microsoft.com/office/drawing/2014/main" id="{6915C261-D771-4C06-877F-76FB39C9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Proxy, EchoEngine adapter, privacy and failure handling</a:t>
            </a:r>
          </a:p>
        </p:txBody>
      </p:sp>
      <p:sp>
        <p:nvSpPr>
          <p:cNvPr id="25" name="row-3-roxy">
            <a:extLst xmlns:a="http://schemas.openxmlformats.org/drawingml/2006/main">
              <a:ext uri="{FF2B5EF4-FFF2-40B4-BE49-F238E27FC236}">
                <a16:creationId xmlns:a16="http://schemas.microsoft.com/office/drawing/2014/main" id="{E5CCAB96-BE4C-4C83-8252-AFD3A0F6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45770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Prompt and character QA, consent review, 5-user comparison</a:t>
            </a:r>
          </a:p>
        </p:txBody>
      </p:sp>
      <p:sp>
        <p:nvSpPr>
          <p:cNvPr id="26" name="row-rule-3">
            <a:extLst xmlns:a="http://schemas.openxmlformats.org/drawingml/2006/main">
              <a:ext uri="{FF2B5EF4-FFF2-40B4-BE49-F238E27FC236}">
                <a16:creationId xmlns:a16="http://schemas.microsoft.com/office/drawing/2014/main" id="{E9E7E2F7-E48D-4850-BC67-CF51D02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699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D5DE"/>
            </a:solidFill>
            <a:prstDash val="solid"/>
          </a:ln>
        </p:spPr>
      </p:sp>
      <p:sp>
        <p:nvSpPr>
          <p:cNvPr id="27" name="row-4-time">
            <a:extLst xmlns:a="http://schemas.openxmlformats.org/drawingml/2006/main">
              <a:ext uri="{FF2B5EF4-FFF2-40B4-BE49-F238E27FC236}">
                <a16:creationId xmlns:a16="http://schemas.microsoft.com/office/drawing/2014/main" id="{0E545DA5-0B3A-4FF6-9216-4C58E81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Aug. 28–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Sep. 3</a:t>
            </a:r>
          </a:p>
        </p:txBody>
      </p:sp>
      <p:sp>
        <p:nvSpPr>
          <p:cNvPr id="28" name="row-4-milestone">
            <a:extLst xmlns:a="http://schemas.openxmlformats.org/drawingml/2006/main">
              <a:ext uri="{FF2B5EF4-FFF2-40B4-BE49-F238E27FC236}">
                <a16:creationId xmlns:a16="http://schemas.microsoft.com/office/drawing/2014/main" id="{BD34A254-7A7F-4D66-99DF-1504E21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Pilot and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B2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2030"/>
                </a:solidFill>
                <a:latin typeface="Arial"/>
                <a:ea typeface="Arial"/>
                <a:cs typeface="Arial"/>
              </a:rPr>
              <a:t>hand-off</a:t>
            </a:r>
          </a:p>
        </p:txBody>
      </p:sp>
      <p:sp>
        <p:nvSpPr>
          <p:cNvPr id="29" name="row-4-deliverable">
            <a:extLst xmlns:a="http://schemas.openxmlformats.org/drawingml/2006/main">
              <a:ext uri="{FF2B5EF4-FFF2-40B4-BE49-F238E27FC236}">
                <a16:creationId xmlns:a16="http://schemas.microsoft.com/office/drawing/2014/main" id="{FB00B3D4-A438-4EBA-B7A6-E07D01A1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57850"/>
            <a:ext cx="528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Run an 8-user pilot; resolve top P0/P1 issues; deliver the demo-ready build, research traceability, GitHub hand-off, final deck and next-step decision</a:t>
            </a:r>
          </a:p>
        </p:txBody>
      </p:sp>
      <p:sp>
        <p:nvSpPr>
          <p:cNvPr id="30" name="row-4-saria">
            <a:extLst xmlns:a="http://schemas.openxmlformats.org/drawingml/2006/main">
              <a:ext uri="{FF2B5EF4-FFF2-40B4-BE49-F238E27FC236}">
                <a16:creationId xmlns:a16="http://schemas.microsoft.com/office/drawing/2014/main" id="{A5DE7DED-B9AB-4262-935F-68B44AA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578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Release QA, evidence instrumentation, technical hand-off, analytics summary</a:t>
            </a:r>
          </a:p>
        </p:txBody>
      </p:sp>
      <p:sp>
        <p:nvSpPr>
          <p:cNvPr id="31" name="row-4-roxy">
            <a:extLst xmlns:a="http://schemas.openxmlformats.org/drawingml/2006/main">
              <a:ext uri="{FF2B5EF4-FFF2-40B4-BE49-F238E27FC236}">
                <a16:creationId xmlns:a16="http://schemas.microsoft.com/office/drawing/2014/main" id="{6506320E-01B5-4613-BFCE-696C56E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565785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Pilot recruitment, evidence synthesis, final narrative and recommendations</a:t>
            </a:r>
          </a:p>
        </p:txBody>
      </p:sp>
      <p:sp>
        <p:nvSpPr>
          <p:cNvPr id="32" name="risk-surface">
            <a:extLst xmlns:a="http://schemas.openxmlformats.org/drawingml/2006/main">
              <a:ext uri="{FF2B5EF4-FFF2-40B4-BE49-F238E27FC236}">
                <a16:creationId xmlns:a16="http://schemas.microsoft.com/office/drawing/2014/main" id="{90713579-5FA0-4F2F-B2C0-F4A3CC5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72350"/>
            <a:ext cx="17373600" cy="2228850"/>
          </a:xfrm>
          <a:prstGeom xmlns:a="http://schemas.openxmlformats.org/drawingml/2006/main" prst="roundRect">
            <a:avLst>
              <a:gd name="adj" fmla="val 9402"/>
            </a:avLst>
          </a:prstGeom>
          <a:solidFill xmlns:a="http://schemas.openxmlformats.org/drawingml/2006/main">
            <a:srgbClr val="FFFCFD"/>
          </a:solidFill>
          <a:ln xmlns:a="http://schemas.openxmlformats.org/drawingml/2006/main" w="19050">
            <a:solidFill>
              <a:srgbClr val="CF7EA2"/>
            </a:solidFill>
            <a:prstDash val="solid"/>
          </a:ln>
        </p:spPr>
      </p:sp>
      <p:sp>
        <p:nvSpPr>
          <p:cNvPr id="33" name="risk-title">
            <a:extLst xmlns:a="http://schemas.openxmlformats.org/drawingml/2006/main">
              <a:ext uri="{FF2B5EF4-FFF2-40B4-BE49-F238E27FC236}">
                <a16:creationId xmlns:a16="http://schemas.microsoft.com/office/drawing/2014/main" id="{DFBE5B59-DB39-4E20-BD6E-8659DCF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91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A63E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63E73"/>
                </a:solidFill>
                <a:latin typeface="Arial"/>
                <a:ea typeface="Arial"/>
                <a:cs typeface="Arial"/>
              </a:rPr>
              <a:t>Risk, fallback, and scope cuts</a:t>
            </a:r>
          </a:p>
        </p:txBody>
      </p:sp>
      <p:sp>
        <p:nvSpPr>
          <p:cNvPr id="34" name="risk-copy">
            <a:extLst xmlns:a="http://schemas.openxmlformats.org/drawingml/2006/main">
              <a:ext uri="{FF2B5EF4-FFF2-40B4-BE49-F238E27FC236}">
                <a16:creationId xmlns:a16="http://schemas.microsoft.com/office/drawing/2014/main" id="{D2B7C499-7FC7-4E6D-A2B8-EDF9CC1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0050"/>
            <a:ext cx="16783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• No new characters, chapters, real calls/audio, notifications, community sharing, cloud accounts, native app, or infinite worlds.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• If live AI is unstable, unsafe, or late: keep the deterministic offline engine as default and ship the spike separately.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• If recruitment is slow: prioritise campus and friends-of-friends; reduce the Week 3 comparison before the final pilot.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D53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5361"/>
                </a:solidFill>
                <a:latin typeface="Arial"/>
                <a:ea typeface="Arial"/>
                <a:cs typeface="Arial"/>
              </a:rPr>
              <a:t>• If continuity controls remain confusing: simplify labels and surface source/edit controls before adding more metrics.</a:t>
            </a:r>
          </a:p>
        </p:txBody>
      </p:sp>
    </p:spTree>
    <p:extLst>
      <p:ext uri="{BB962C8B-B14F-4D97-AF65-F5344CB8AC3E}">
        <p14:creationId xmlns:p14="http://schemas.microsoft.com/office/powerpoint/2010/main" val="5120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2026-08-06T17:50:26.8790000Z</dcterms:created>
  <dcterms:modified xsi:type="dcterms:W3CDTF">2026-08-06T17:50:26.8790000Z</dcterms:modified>
</coreProperties>
</file>